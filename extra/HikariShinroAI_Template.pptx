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137160"/>
            <a:ext cx="1005840" cy="256032"/>
          </a:xfrm>
          <a:prstGeom prst="ellipse">
            <a:avLst/>
          </a:prstGeom>
          <a:solidFill>
            <a:srgbClr val="E8E3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-137160"/>
            <a:ext cx="1005840" cy="256032"/>
          </a:xfrm>
          <a:prstGeom prst="ellipse">
            <a:avLst/>
          </a:prstGeom>
          <a:solidFill>
            <a:srgbClr val="E8E3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-137160"/>
            <a:ext cx="1005840" cy="256032"/>
          </a:xfrm>
          <a:prstGeom prst="ellipse">
            <a:avLst/>
          </a:prstGeom>
          <a:solidFill>
            <a:srgbClr val="E8E3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-137160"/>
            <a:ext cx="1005840" cy="256032"/>
          </a:xfrm>
          <a:prstGeom prst="ellipse">
            <a:avLst/>
          </a:prstGeom>
          <a:solidFill>
            <a:srgbClr val="E8E3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0" y="-137160"/>
            <a:ext cx="1005840" cy="256032"/>
          </a:xfrm>
          <a:prstGeom prst="ellipse">
            <a:avLst/>
          </a:prstGeom>
          <a:solidFill>
            <a:srgbClr val="E8E3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-137160"/>
            <a:ext cx="1005840" cy="256032"/>
          </a:xfrm>
          <a:prstGeom prst="ellipse">
            <a:avLst/>
          </a:prstGeom>
          <a:solidFill>
            <a:srgbClr val="E8E3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0" y="-137160"/>
            <a:ext cx="1005840" cy="256032"/>
          </a:xfrm>
          <a:prstGeom prst="ellipse">
            <a:avLst/>
          </a:prstGeom>
          <a:solidFill>
            <a:srgbClr val="E8E3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-137160"/>
            <a:ext cx="1005840" cy="256032"/>
          </a:xfrm>
          <a:prstGeom prst="ellipse">
            <a:avLst/>
          </a:prstGeom>
          <a:solidFill>
            <a:srgbClr val="E8E3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-137160"/>
            <a:ext cx="1005840" cy="256032"/>
          </a:xfrm>
          <a:prstGeom prst="ellipse">
            <a:avLst/>
          </a:prstGeom>
          <a:solidFill>
            <a:srgbClr val="E8E3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-137160"/>
            <a:ext cx="1005840" cy="256032"/>
          </a:xfrm>
          <a:prstGeom prst="ellipse">
            <a:avLst/>
          </a:prstGeom>
          <a:solidFill>
            <a:srgbClr val="E8E3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-137160"/>
            <a:ext cx="1005840" cy="256032"/>
          </a:xfrm>
          <a:prstGeom prst="ellipse">
            <a:avLst/>
          </a:prstGeom>
          <a:solidFill>
            <a:srgbClr val="E8E3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95360" y="-137160"/>
            <a:ext cx="1005840" cy="256032"/>
          </a:xfrm>
          <a:prstGeom prst="ellipse">
            <a:avLst/>
          </a:prstGeom>
          <a:solidFill>
            <a:srgbClr val="E8E3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-274320" y="91440"/>
            <a:ext cx="1005840" cy="201168"/>
          </a:xfrm>
          <a:prstGeom prst="ellipse">
            <a:avLst/>
          </a:prstGeom>
          <a:solidFill>
            <a:srgbClr val="F8F5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91440"/>
            <a:ext cx="1005840" cy="201168"/>
          </a:xfrm>
          <a:prstGeom prst="ellipse">
            <a:avLst/>
          </a:prstGeom>
          <a:solidFill>
            <a:srgbClr val="F8F5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91440"/>
            <a:ext cx="1005840" cy="201168"/>
          </a:xfrm>
          <a:prstGeom prst="ellipse">
            <a:avLst/>
          </a:prstGeom>
          <a:solidFill>
            <a:srgbClr val="F8F5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91440"/>
            <a:ext cx="1005840" cy="201168"/>
          </a:xfrm>
          <a:prstGeom prst="ellipse">
            <a:avLst/>
          </a:prstGeom>
          <a:solidFill>
            <a:srgbClr val="F8F5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17520" y="91440"/>
            <a:ext cx="1005840" cy="201168"/>
          </a:xfrm>
          <a:prstGeom prst="ellipse">
            <a:avLst/>
          </a:prstGeom>
          <a:solidFill>
            <a:srgbClr val="F8F5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0" y="91440"/>
            <a:ext cx="1005840" cy="201168"/>
          </a:xfrm>
          <a:prstGeom prst="ellipse">
            <a:avLst/>
          </a:prstGeom>
          <a:solidFill>
            <a:srgbClr val="F8F5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91440"/>
            <a:ext cx="1005840" cy="201168"/>
          </a:xfrm>
          <a:prstGeom prst="ellipse">
            <a:avLst/>
          </a:prstGeom>
          <a:solidFill>
            <a:srgbClr val="F8F5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0" y="91440"/>
            <a:ext cx="1005840" cy="201168"/>
          </a:xfrm>
          <a:prstGeom prst="ellipse">
            <a:avLst/>
          </a:prstGeom>
          <a:solidFill>
            <a:srgbClr val="F8F5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91440"/>
            <a:ext cx="1005840" cy="201168"/>
          </a:xfrm>
          <a:prstGeom prst="ellipse">
            <a:avLst/>
          </a:prstGeom>
          <a:solidFill>
            <a:srgbClr val="F8F5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0" y="91440"/>
            <a:ext cx="1005840" cy="201168"/>
          </a:xfrm>
          <a:prstGeom prst="ellipse">
            <a:avLst/>
          </a:prstGeom>
          <a:solidFill>
            <a:srgbClr val="F8F5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0" y="91440"/>
            <a:ext cx="1005840" cy="201168"/>
          </a:xfrm>
          <a:prstGeom prst="ellipse">
            <a:avLst/>
          </a:prstGeom>
          <a:solidFill>
            <a:srgbClr val="F8F5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91440"/>
            <a:ext cx="1005840" cy="201168"/>
          </a:xfrm>
          <a:prstGeom prst="ellipse">
            <a:avLst/>
          </a:prstGeom>
          <a:solidFill>
            <a:srgbClr val="F8F5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-457200"/>
            <a:ext cx="3200400" cy="3200400"/>
          </a:xfrm>
          <a:prstGeom prst="ellipse">
            <a:avLst/>
          </a:prstGeom>
          <a:solidFill>
            <a:srgbClr val="CC1515">
              <a:alpha val="9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49440" y="91440"/>
            <a:ext cx="2103120" cy="2103120"/>
          </a:xfrm>
          <a:prstGeom prst="ellipse">
            <a:avLst/>
          </a:prstGeom>
          <a:solidFill>
            <a:srgbClr val="AA1010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0"/>
            <a:ext cx="64008" cy="4754880"/>
          </a:xfrm>
          <a:prstGeom prst="rect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0"/>
            <a:ext cx="155448" cy="64008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75320" y="864524"/>
            <a:ext cx="155448" cy="64008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75320" y="1729047"/>
            <a:ext cx="155448" cy="64008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75320" y="2593571"/>
            <a:ext cx="155448" cy="64008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75320" y="3458095"/>
            <a:ext cx="155448" cy="64008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75320" y="4322618"/>
            <a:ext cx="155448" cy="64008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22208" y="0"/>
            <a:ext cx="64008" cy="4754880"/>
          </a:xfrm>
          <a:prstGeom prst="rect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76488" y="0"/>
            <a:ext cx="155448" cy="64008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76488" y="864524"/>
            <a:ext cx="155448" cy="64008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76488" y="1729047"/>
            <a:ext cx="155448" cy="64008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76488" y="2593571"/>
            <a:ext cx="155448" cy="64008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76488" y="3458095"/>
            <a:ext cx="155448" cy="64008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76488" y="4322618"/>
            <a:ext cx="155448" cy="64008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23376" y="0"/>
            <a:ext cx="64008" cy="4754880"/>
          </a:xfrm>
          <a:prstGeom prst="rect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677656" y="0"/>
            <a:ext cx="155448" cy="64008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677656" y="864524"/>
            <a:ext cx="155448" cy="64008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677656" y="1729047"/>
            <a:ext cx="155448" cy="64008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677656" y="2593571"/>
            <a:ext cx="155448" cy="64008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677656" y="3458095"/>
            <a:ext cx="155448" cy="64008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677656" y="4322618"/>
            <a:ext cx="155448" cy="64008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137160"/>
            <a:ext cx="1005840" cy="1005840"/>
          </a:xfrm>
          <a:prstGeom prst="ellipse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1792" y="1097280"/>
            <a:ext cx="320040" cy="1371600"/>
          </a:xfrm>
          <a:prstGeom prst="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2880" y="1371600"/>
            <a:ext cx="1188720" cy="182880"/>
          </a:xfrm>
          <a:prstGeom prst="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1440" y="1097280"/>
            <a:ext cx="1417320" cy="2011680"/>
          </a:xfrm>
          <a:prstGeom prst="roundRect">
            <a:avLst>
              <a:gd name="adj" fmla="val 19355"/>
            </a:avLst>
          </a:prstGeom>
          <a:solidFill>
            <a:srgbClr val="CC1515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4320" y="164592"/>
            <a:ext cx="1005840" cy="987552"/>
          </a:xfrm>
          <a:prstGeom prst="ellipse">
            <a:avLst/>
          </a:prstGeom>
          <a:solidFill>
            <a:srgbClr val="D4B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40480" y="914400"/>
            <a:ext cx="4114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Hikari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Shinro AI</a:t>
            </a:r>
            <a:endParaRPr lang="en-US" sz="5200" dirty="0"/>
          </a:p>
        </p:txBody>
      </p:sp>
      <p:sp>
        <p:nvSpPr>
          <p:cNvPr id="55" name="Text 53"/>
          <p:cNvSpPr/>
          <p:nvPr/>
        </p:nvSpPr>
        <p:spPr>
          <a:xfrm>
            <a:off x="384048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888888"/>
                </a:solidFill>
              </a:rPr>
              <a:t>光の進路  ·  Path of Light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3840480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Agentic AI Navigation for the Visually Impaired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0" y="4800600"/>
            <a:ext cx="9144000" cy="201168"/>
          </a:xfrm>
          <a:prstGeom prst="rect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-137160" y="4709160"/>
            <a:ext cx="548640" cy="201168"/>
          </a:xfrm>
          <a:prstGeom prst="ellipse">
            <a:avLst/>
          </a:prstGeom>
          <a:solidFill>
            <a:srgbClr val="CC1515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38328" y="4709160"/>
            <a:ext cx="548640" cy="201168"/>
          </a:xfrm>
          <a:prstGeom prst="ellipse">
            <a:avLst/>
          </a:prstGeom>
          <a:solidFill>
            <a:srgbClr val="CC1515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13816" y="4709160"/>
            <a:ext cx="548640" cy="201168"/>
          </a:xfrm>
          <a:prstGeom prst="ellipse">
            <a:avLst/>
          </a:prstGeom>
          <a:solidFill>
            <a:srgbClr val="CC1515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289304" y="4709160"/>
            <a:ext cx="548640" cy="201168"/>
          </a:xfrm>
          <a:prstGeom prst="ellipse">
            <a:avLst/>
          </a:prstGeom>
          <a:solidFill>
            <a:srgbClr val="CC1515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764792" y="4709160"/>
            <a:ext cx="548640" cy="201168"/>
          </a:xfrm>
          <a:prstGeom prst="ellipse">
            <a:avLst/>
          </a:prstGeom>
          <a:solidFill>
            <a:srgbClr val="CC1515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240280" y="4709160"/>
            <a:ext cx="548640" cy="201168"/>
          </a:xfrm>
          <a:prstGeom prst="ellipse">
            <a:avLst/>
          </a:prstGeom>
          <a:solidFill>
            <a:srgbClr val="CC1515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715768" y="4709160"/>
            <a:ext cx="548640" cy="201168"/>
          </a:xfrm>
          <a:prstGeom prst="ellipse">
            <a:avLst/>
          </a:prstGeom>
          <a:solidFill>
            <a:srgbClr val="CC1515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191256" y="4709160"/>
            <a:ext cx="548640" cy="201168"/>
          </a:xfrm>
          <a:prstGeom prst="ellipse">
            <a:avLst/>
          </a:prstGeom>
          <a:solidFill>
            <a:srgbClr val="CC1515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666744" y="4709160"/>
            <a:ext cx="548640" cy="201168"/>
          </a:xfrm>
          <a:prstGeom prst="ellipse">
            <a:avLst/>
          </a:prstGeom>
          <a:solidFill>
            <a:srgbClr val="CC1515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142232" y="4709160"/>
            <a:ext cx="548640" cy="201168"/>
          </a:xfrm>
          <a:prstGeom prst="ellipse">
            <a:avLst/>
          </a:prstGeom>
          <a:solidFill>
            <a:srgbClr val="CC1515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617720" y="4709160"/>
            <a:ext cx="548640" cy="201168"/>
          </a:xfrm>
          <a:prstGeom prst="ellipse">
            <a:avLst/>
          </a:prstGeom>
          <a:solidFill>
            <a:srgbClr val="CC1515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093208" y="4709160"/>
            <a:ext cx="548640" cy="201168"/>
          </a:xfrm>
          <a:prstGeom prst="ellipse">
            <a:avLst/>
          </a:prstGeom>
          <a:solidFill>
            <a:srgbClr val="CC1515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568696" y="4709160"/>
            <a:ext cx="548640" cy="201168"/>
          </a:xfrm>
          <a:prstGeom prst="ellipse">
            <a:avLst/>
          </a:prstGeom>
          <a:solidFill>
            <a:srgbClr val="CC1515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044184" y="4709160"/>
            <a:ext cx="548640" cy="201168"/>
          </a:xfrm>
          <a:prstGeom prst="ellipse">
            <a:avLst/>
          </a:prstGeom>
          <a:solidFill>
            <a:srgbClr val="CC1515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519672" y="4709160"/>
            <a:ext cx="548640" cy="201168"/>
          </a:xfrm>
          <a:prstGeom prst="ellipse">
            <a:avLst/>
          </a:prstGeom>
          <a:solidFill>
            <a:srgbClr val="CC1515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995160" y="4709160"/>
            <a:ext cx="548640" cy="201168"/>
          </a:xfrm>
          <a:prstGeom prst="ellipse">
            <a:avLst/>
          </a:prstGeom>
          <a:solidFill>
            <a:srgbClr val="CC1515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470648" y="4709160"/>
            <a:ext cx="548640" cy="201168"/>
          </a:xfrm>
          <a:prstGeom prst="ellipse">
            <a:avLst/>
          </a:prstGeom>
          <a:solidFill>
            <a:srgbClr val="CC1515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946136" y="4709160"/>
            <a:ext cx="548640" cy="201168"/>
          </a:xfrm>
          <a:prstGeom prst="ellipse">
            <a:avLst/>
          </a:prstGeom>
          <a:solidFill>
            <a:srgbClr val="CC1515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421624" y="4709160"/>
            <a:ext cx="548640" cy="201168"/>
          </a:xfrm>
          <a:prstGeom prst="ellipse">
            <a:avLst/>
          </a:prstGeom>
          <a:solidFill>
            <a:srgbClr val="CC1515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897112" y="4709160"/>
            <a:ext cx="548640" cy="201168"/>
          </a:xfrm>
          <a:prstGeom prst="ellipse">
            <a:avLst/>
          </a:prstGeom>
          <a:solidFill>
            <a:srgbClr val="CC1515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CodeRonin · Ahouba 3.0 · IIIT Manipur · 21–22 March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8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402336"/>
            <a:ext cx="1106424" cy="804672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8950" y="0"/>
            <a:ext cx="1005840" cy="764438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" y="201168"/>
            <a:ext cx="905256" cy="704088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94790" y="442570"/>
            <a:ext cx="804672" cy="603504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" y="643738"/>
            <a:ext cx="965606" cy="704088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1286" y="603504"/>
            <a:ext cx="844906" cy="643738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0" y="512064"/>
            <a:ext cx="905256" cy="658368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93178" y="182880"/>
            <a:ext cx="822960" cy="625450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37576" y="347472"/>
            <a:ext cx="740664" cy="576072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6138" y="544982"/>
            <a:ext cx="658368" cy="493776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28586" y="709574"/>
            <a:ext cx="790042" cy="576072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22362" y="676656"/>
            <a:ext cx="691286" cy="526694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407408"/>
            <a:ext cx="804672" cy="585216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6851" y="4114800"/>
            <a:ext cx="731520" cy="555955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61872" y="4261104"/>
            <a:ext cx="658368" cy="512064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98371" y="4436669"/>
            <a:ext cx="585216" cy="438912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0547" y="4582973"/>
            <a:ext cx="702259" cy="512064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9459" y="4553712"/>
            <a:ext cx="614477" cy="468173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0" y="4462272"/>
            <a:ext cx="704088" cy="512064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56525" y="4206240"/>
            <a:ext cx="640080" cy="486461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02168" y="4334256"/>
            <a:ext cx="576072" cy="448056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96605" y="4487875"/>
            <a:ext cx="512064" cy="384048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28509" y="4615891"/>
            <a:ext cx="614477" cy="448056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12557" y="4590288"/>
            <a:ext cx="537667" cy="409651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-182880" y="4709160"/>
            <a:ext cx="594360" cy="274320"/>
          </a:xfrm>
          <a:prstGeom prst="ellipse">
            <a:avLst/>
          </a:prstGeom>
          <a:solidFill>
            <a:srgbClr val="166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4709160"/>
            <a:ext cx="594360" cy="274320"/>
          </a:xfrm>
          <a:prstGeom prst="ellipse">
            <a:avLst/>
          </a:prstGeom>
          <a:solidFill>
            <a:srgbClr val="166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" y="4709160"/>
            <a:ext cx="594360" cy="274320"/>
          </a:xfrm>
          <a:prstGeom prst="ellipse">
            <a:avLst/>
          </a:prstGeom>
          <a:solidFill>
            <a:srgbClr val="166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25880" y="4709160"/>
            <a:ext cx="594360" cy="274320"/>
          </a:xfrm>
          <a:prstGeom prst="ellipse">
            <a:avLst/>
          </a:prstGeom>
          <a:solidFill>
            <a:srgbClr val="166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0" y="4709160"/>
            <a:ext cx="594360" cy="274320"/>
          </a:xfrm>
          <a:prstGeom prst="ellipse">
            <a:avLst/>
          </a:prstGeom>
          <a:solidFill>
            <a:srgbClr val="166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31720" y="4709160"/>
            <a:ext cx="594360" cy="274320"/>
          </a:xfrm>
          <a:prstGeom prst="ellipse">
            <a:avLst/>
          </a:prstGeom>
          <a:solidFill>
            <a:srgbClr val="166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34640" y="4709160"/>
            <a:ext cx="594360" cy="274320"/>
          </a:xfrm>
          <a:prstGeom prst="ellipse">
            <a:avLst/>
          </a:prstGeom>
          <a:solidFill>
            <a:srgbClr val="166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37560" y="4709160"/>
            <a:ext cx="594360" cy="274320"/>
          </a:xfrm>
          <a:prstGeom prst="ellipse">
            <a:avLst/>
          </a:prstGeom>
          <a:solidFill>
            <a:srgbClr val="166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0480" y="4709160"/>
            <a:ext cx="594360" cy="274320"/>
          </a:xfrm>
          <a:prstGeom prst="ellipse">
            <a:avLst/>
          </a:prstGeom>
          <a:solidFill>
            <a:srgbClr val="166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43400" y="4709160"/>
            <a:ext cx="594360" cy="274320"/>
          </a:xfrm>
          <a:prstGeom prst="ellipse">
            <a:avLst/>
          </a:prstGeom>
          <a:solidFill>
            <a:srgbClr val="166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4709160"/>
            <a:ext cx="594360" cy="274320"/>
          </a:xfrm>
          <a:prstGeom prst="ellipse">
            <a:avLst/>
          </a:prstGeom>
          <a:solidFill>
            <a:srgbClr val="166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49240" y="4709160"/>
            <a:ext cx="594360" cy="274320"/>
          </a:xfrm>
          <a:prstGeom prst="ellipse">
            <a:avLst/>
          </a:prstGeom>
          <a:solidFill>
            <a:srgbClr val="166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52160" y="4709160"/>
            <a:ext cx="594360" cy="274320"/>
          </a:xfrm>
          <a:prstGeom prst="ellipse">
            <a:avLst/>
          </a:prstGeom>
          <a:solidFill>
            <a:srgbClr val="166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55080" y="4709160"/>
            <a:ext cx="594360" cy="274320"/>
          </a:xfrm>
          <a:prstGeom prst="ellipse">
            <a:avLst/>
          </a:prstGeom>
          <a:solidFill>
            <a:srgbClr val="166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0" y="4709160"/>
            <a:ext cx="594360" cy="274320"/>
          </a:xfrm>
          <a:prstGeom prst="ellipse">
            <a:avLst/>
          </a:prstGeom>
          <a:solidFill>
            <a:srgbClr val="166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60920" y="4709160"/>
            <a:ext cx="594360" cy="274320"/>
          </a:xfrm>
          <a:prstGeom prst="ellipse">
            <a:avLst/>
          </a:prstGeom>
          <a:solidFill>
            <a:srgbClr val="166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63840" y="4709160"/>
            <a:ext cx="594360" cy="274320"/>
          </a:xfrm>
          <a:prstGeom prst="ellipse">
            <a:avLst/>
          </a:prstGeom>
          <a:solidFill>
            <a:srgbClr val="166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66760" y="4709160"/>
            <a:ext cx="594360" cy="274320"/>
          </a:xfrm>
          <a:prstGeom prst="ellipse">
            <a:avLst/>
          </a:prstGeom>
          <a:solidFill>
            <a:srgbClr val="166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69680" y="4709160"/>
            <a:ext cx="594360" cy="274320"/>
          </a:xfrm>
          <a:prstGeom prst="ellipse">
            <a:avLst/>
          </a:prstGeom>
          <a:solidFill>
            <a:srgbClr val="166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372600" y="4709160"/>
            <a:ext cx="594360" cy="274320"/>
          </a:xfrm>
          <a:prstGeom prst="ellipse">
            <a:avLst/>
          </a:prstGeom>
          <a:solidFill>
            <a:srgbClr val="166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71600" y="5486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 Contents</a:t>
            </a:r>
            <a:endParaRPr lang="en-US" sz="3600" dirty="0"/>
          </a:p>
        </p:txBody>
      </p:sp>
      <p:sp>
        <p:nvSpPr>
          <p:cNvPr id="47" name="Shape 45"/>
          <p:cNvSpPr/>
          <p:nvPr/>
        </p:nvSpPr>
        <p:spPr>
          <a:xfrm>
            <a:off x="731520" y="1490472"/>
            <a:ext cx="347472" cy="347472"/>
          </a:xfrm>
          <a:prstGeom prst="ellipse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" y="1490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207008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207008" y="17465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FFFF"/>
                </a:solidFill>
              </a:rPr>
              <a:t>PS1 — Agentic AI for Visually Impaired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31520" y="2331720"/>
            <a:ext cx="347472" cy="347472"/>
          </a:xfrm>
          <a:prstGeom prst="ellipse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1520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207008" y="23042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Proposed Solution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1207008" y="25877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FFFF"/>
                </a:solidFill>
              </a:rPr>
              <a:t>Hikari Shinro AI end-to-end pipeline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31520" y="3172968"/>
            <a:ext cx="347472" cy="347472"/>
          </a:xfrm>
          <a:prstGeom prst="ellipse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1520" y="3172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207008" y="31455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System Architecture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1207008" y="34290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FFFF"/>
                </a:solidFill>
              </a:rPr>
              <a:t>8-Layer processing pipeline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31520" y="4014216"/>
            <a:ext cx="347472" cy="347472"/>
          </a:xfrm>
          <a:prstGeom prst="ellipse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1520" y="4014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207008" y="39867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Agent &amp; Workflow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1207008" y="42702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FFFF"/>
                </a:solidFill>
              </a:rPr>
              <a:t>LLM brain · DFD · Sequence diagram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120640" y="1490472"/>
            <a:ext cx="347472" cy="347472"/>
          </a:xfrm>
          <a:prstGeom prst="ellipse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20640" y="1490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596128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Quantitative Engine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5596128" y="17465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FFFF"/>
                </a:solidFill>
              </a:rPr>
              <a:t>Kalman · A* · Euclidean · Confidence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120640" y="2331720"/>
            <a:ext cx="347472" cy="347472"/>
          </a:xfrm>
          <a:prstGeom prst="ellipse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20640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596128" y="23042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Tech Stack &amp; HUD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5596128" y="25877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FFFF"/>
                </a:solidFill>
              </a:rPr>
              <a:t>100% Free · Anime web interface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120640" y="3172968"/>
            <a:ext cx="347472" cy="347472"/>
          </a:xfrm>
          <a:prstGeom prst="ellipse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120640" y="3172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5596128" y="31455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Innovation &amp; Impact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5596128" y="34290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FFFF"/>
                </a:solidFill>
              </a:rPr>
              <a:t>Why this solution wins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5120640" y="4014216"/>
            <a:ext cx="347472" cy="347472"/>
          </a:xfrm>
          <a:prstGeom prst="ellipse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120640" y="4014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5596128" y="39867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Team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5596128" y="42702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FFFF"/>
                </a:solidFill>
              </a:rPr>
              <a:t>Members &amp; roles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" y="-182880"/>
            <a:ext cx="2633472" cy="1755648"/>
          </a:xfrm>
          <a:prstGeom prst="ellipse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0" y="109728"/>
            <a:ext cx="2340864" cy="1609344"/>
          </a:xfrm>
          <a:prstGeom prst="ellipse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96896" y="-182880"/>
            <a:ext cx="2194560" cy="1463040"/>
          </a:xfrm>
          <a:prstGeom prst="ellipse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" y="694944"/>
            <a:ext cx="2340864" cy="1609344"/>
          </a:xfrm>
          <a:prstGeom prst="ellipse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19072" y="636422"/>
            <a:ext cx="2048256" cy="1404518"/>
          </a:xfrm>
          <a:prstGeom prst="ellipse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35808" y="402336"/>
            <a:ext cx="1901952" cy="1316736"/>
          </a:xfrm>
          <a:prstGeom prst="ellipse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9030" y="1426464"/>
            <a:ext cx="2048256" cy="1228954"/>
          </a:xfrm>
          <a:prstGeom prst="ellipse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16506" y="1221638"/>
            <a:ext cx="1814170" cy="1170432"/>
          </a:xfrm>
          <a:prstGeom prst="ellipse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28416" y="1133856"/>
            <a:ext cx="1755648" cy="1111910"/>
          </a:xfrm>
          <a:prstGeom prst="ellipse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0" y="182880"/>
            <a:ext cx="2011680" cy="2011680"/>
          </a:xfrm>
          <a:prstGeom prst="ellipse">
            <a:avLst/>
          </a:prstGeom>
          <a:solidFill>
            <a:srgbClr val="6B0A0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0" y="2103120"/>
            <a:ext cx="457200" cy="164592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0" y="228600"/>
            <a:ext cx="1828800" cy="1828800"/>
          </a:xfrm>
          <a:prstGeom prst="ellipse">
            <a:avLst/>
          </a:prstGeom>
          <a:solidFill>
            <a:srgbClr val="2A2020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-274320"/>
            <a:ext cx="2560320" cy="2560320"/>
          </a:xfrm>
          <a:prstGeom prst="ellipse">
            <a:avLst/>
          </a:prstGeom>
          <a:solidFill>
            <a:srgbClr val="CC1515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188720"/>
            <a:ext cx="384048" cy="384048"/>
          </a:xfrm>
          <a:prstGeom prst="ellipse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11155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C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57200" y="16276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AAAAA"/>
                </a:solidFill>
              </a:rPr>
              <a:t>PS–01  ·  Agentic AI for the Visually Impaired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2130552"/>
            <a:ext cx="228600" cy="228600"/>
          </a:xfrm>
          <a:prstGeom prst="ellipse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205740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</a:rPr>
              <a:t>Build an agentic AI that interprets high-level spoken goals — e.g. "Help me reach the door" — and autonomously pursues them through reasoning, planning, and spoken guidance, without constant re-prompting.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2715768"/>
            <a:ext cx="228600" cy="228600"/>
          </a:xfrm>
          <a:prstGeom prst="ellipse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2642616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</a:rPr>
              <a:t>Open-vocabulary object detection: new objects can be added to the list without doing any training or fine-tuning of the model.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3300984"/>
            <a:ext cx="228600" cy="228600"/>
          </a:xfrm>
          <a:prstGeom prst="ellipse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3227832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</a:rPr>
              <a:t>Depth estimation (Monocular) to translate visual depth and object proximity into intuitive audio or haptic feedback.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3886200"/>
            <a:ext cx="228600" cy="228600"/>
          </a:xfrm>
          <a:prstGeom prst="ellipse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381304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</a:rPr>
              <a:t>Create a device leveraging smartphone IMU sensors — accelerometer &amp; gyroscope — for indoor/outdoor positioning.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11480" y="4471416"/>
            <a:ext cx="228600" cy="228600"/>
          </a:xfrm>
          <a:prstGeom prst="ellipse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4398264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</a:rPr>
              <a:t>SOS alert with real-time location to pre-configured contacts in critical situations.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B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182880"/>
            <a:ext cx="822960" cy="320040"/>
          </a:xfrm>
          <a:prstGeom prst="ellipse">
            <a:avLst/>
          </a:prstGeom>
          <a:solidFill>
            <a:srgbClr val="5A0000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" y="109728"/>
            <a:ext cx="822960" cy="274320"/>
          </a:xfrm>
          <a:prstGeom prst="ellipse">
            <a:avLst/>
          </a:prstGeom>
          <a:solidFill>
            <a:srgbClr val="6B0A0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-182880"/>
            <a:ext cx="822960" cy="320040"/>
          </a:xfrm>
          <a:prstGeom prst="ellipse">
            <a:avLst/>
          </a:prstGeom>
          <a:solidFill>
            <a:srgbClr val="5A0000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09728"/>
            <a:ext cx="822960" cy="274320"/>
          </a:xfrm>
          <a:prstGeom prst="ellipse">
            <a:avLst/>
          </a:prstGeom>
          <a:solidFill>
            <a:srgbClr val="6B0A0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" y="-182880"/>
            <a:ext cx="822960" cy="320040"/>
          </a:xfrm>
          <a:prstGeom prst="ellipse">
            <a:avLst/>
          </a:prstGeom>
          <a:solidFill>
            <a:srgbClr val="5A0000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43584" y="109728"/>
            <a:ext cx="822960" cy="274320"/>
          </a:xfrm>
          <a:prstGeom prst="ellipse">
            <a:avLst/>
          </a:prstGeom>
          <a:solidFill>
            <a:srgbClr val="6B0A0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82496" y="-182880"/>
            <a:ext cx="822960" cy="320040"/>
          </a:xfrm>
          <a:prstGeom prst="ellipse">
            <a:avLst/>
          </a:prstGeom>
          <a:solidFill>
            <a:srgbClr val="5A0000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56816" y="109728"/>
            <a:ext cx="822960" cy="274320"/>
          </a:xfrm>
          <a:prstGeom prst="ellipse">
            <a:avLst/>
          </a:prstGeom>
          <a:solidFill>
            <a:srgbClr val="6B0A0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95728" y="-182880"/>
            <a:ext cx="822960" cy="320040"/>
          </a:xfrm>
          <a:prstGeom prst="ellipse">
            <a:avLst/>
          </a:prstGeom>
          <a:solidFill>
            <a:srgbClr val="5A0000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70048" y="109728"/>
            <a:ext cx="822960" cy="274320"/>
          </a:xfrm>
          <a:prstGeom prst="ellipse">
            <a:avLst/>
          </a:prstGeom>
          <a:solidFill>
            <a:srgbClr val="6B0A0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-182880"/>
            <a:ext cx="822960" cy="320040"/>
          </a:xfrm>
          <a:prstGeom prst="ellipse">
            <a:avLst/>
          </a:prstGeom>
          <a:solidFill>
            <a:srgbClr val="5A0000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09728"/>
            <a:ext cx="822960" cy="274320"/>
          </a:xfrm>
          <a:prstGeom prst="ellipse">
            <a:avLst/>
          </a:prstGeom>
          <a:solidFill>
            <a:srgbClr val="6B0A0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22192" y="-182880"/>
            <a:ext cx="822960" cy="320040"/>
          </a:xfrm>
          <a:prstGeom prst="ellipse">
            <a:avLst/>
          </a:prstGeom>
          <a:solidFill>
            <a:srgbClr val="5A0000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96512" y="109728"/>
            <a:ext cx="822960" cy="274320"/>
          </a:xfrm>
          <a:prstGeom prst="ellipse">
            <a:avLst/>
          </a:prstGeom>
          <a:solidFill>
            <a:srgbClr val="6B0A0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35424" y="-182880"/>
            <a:ext cx="822960" cy="320040"/>
          </a:xfrm>
          <a:prstGeom prst="ellipse">
            <a:avLst/>
          </a:prstGeom>
          <a:solidFill>
            <a:srgbClr val="5A0000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9744" y="109728"/>
            <a:ext cx="822960" cy="274320"/>
          </a:xfrm>
          <a:prstGeom prst="ellipse">
            <a:avLst/>
          </a:prstGeom>
          <a:solidFill>
            <a:srgbClr val="6B0A0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48656" y="-182880"/>
            <a:ext cx="822960" cy="320040"/>
          </a:xfrm>
          <a:prstGeom prst="ellipse">
            <a:avLst/>
          </a:prstGeom>
          <a:solidFill>
            <a:srgbClr val="5A0000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22976" y="109728"/>
            <a:ext cx="822960" cy="274320"/>
          </a:xfrm>
          <a:prstGeom prst="ellipse">
            <a:avLst/>
          </a:prstGeom>
          <a:solidFill>
            <a:srgbClr val="6B0A0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61888" y="-182880"/>
            <a:ext cx="822960" cy="320040"/>
          </a:xfrm>
          <a:prstGeom prst="ellipse">
            <a:avLst/>
          </a:prstGeom>
          <a:solidFill>
            <a:srgbClr val="5A0000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6208" y="109728"/>
            <a:ext cx="822960" cy="274320"/>
          </a:xfrm>
          <a:prstGeom prst="ellipse">
            <a:avLst/>
          </a:prstGeom>
          <a:solidFill>
            <a:srgbClr val="6B0A0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0" y="-182880"/>
            <a:ext cx="822960" cy="320040"/>
          </a:xfrm>
          <a:prstGeom prst="ellipse">
            <a:avLst/>
          </a:prstGeom>
          <a:solidFill>
            <a:srgbClr val="5A0000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109728"/>
            <a:ext cx="822960" cy="274320"/>
          </a:xfrm>
          <a:prstGeom prst="ellipse">
            <a:avLst/>
          </a:prstGeom>
          <a:solidFill>
            <a:srgbClr val="6B0A0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88352" y="-182880"/>
            <a:ext cx="822960" cy="320040"/>
          </a:xfrm>
          <a:prstGeom prst="ellipse">
            <a:avLst/>
          </a:prstGeom>
          <a:solidFill>
            <a:srgbClr val="5A0000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62672" y="109728"/>
            <a:ext cx="822960" cy="274320"/>
          </a:xfrm>
          <a:prstGeom prst="ellipse">
            <a:avLst/>
          </a:prstGeom>
          <a:solidFill>
            <a:srgbClr val="6B0A0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01584" y="-182880"/>
            <a:ext cx="822960" cy="320040"/>
          </a:xfrm>
          <a:prstGeom prst="ellipse">
            <a:avLst/>
          </a:prstGeom>
          <a:solidFill>
            <a:srgbClr val="5A0000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75904" y="109728"/>
            <a:ext cx="822960" cy="274320"/>
          </a:xfrm>
          <a:prstGeom prst="ellipse">
            <a:avLst/>
          </a:prstGeom>
          <a:solidFill>
            <a:srgbClr val="6B0A0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14816" y="-182880"/>
            <a:ext cx="822960" cy="320040"/>
          </a:xfrm>
          <a:prstGeom prst="ellipse">
            <a:avLst/>
          </a:prstGeom>
          <a:solidFill>
            <a:srgbClr val="5A0000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89136" y="109728"/>
            <a:ext cx="822960" cy="274320"/>
          </a:xfrm>
          <a:prstGeom prst="ellipse">
            <a:avLst/>
          </a:prstGeom>
          <a:solidFill>
            <a:srgbClr val="6B0A0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-457200" y="4572000"/>
            <a:ext cx="822960" cy="320040"/>
          </a:xfrm>
          <a:prstGeom prst="ellipse">
            <a:avLst/>
          </a:prstGeom>
          <a:solidFill>
            <a:srgbClr val="5A0000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-182880" y="4800600"/>
            <a:ext cx="822960" cy="274320"/>
          </a:xfrm>
          <a:prstGeom prst="ellipse">
            <a:avLst/>
          </a:prstGeom>
          <a:solidFill>
            <a:srgbClr val="6B0A0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" y="4572000"/>
            <a:ext cx="822960" cy="320040"/>
          </a:xfrm>
          <a:prstGeom prst="ellipse">
            <a:avLst/>
          </a:prstGeom>
          <a:solidFill>
            <a:srgbClr val="5A0000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0352" y="4800600"/>
            <a:ext cx="822960" cy="274320"/>
          </a:xfrm>
          <a:prstGeom prst="ellipse">
            <a:avLst/>
          </a:prstGeom>
          <a:solidFill>
            <a:srgbClr val="6B0A0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9264" y="4572000"/>
            <a:ext cx="822960" cy="320040"/>
          </a:xfrm>
          <a:prstGeom prst="ellipse">
            <a:avLst/>
          </a:prstGeom>
          <a:solidFill>
            <a:srgbClr val="5A0000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43584" y="4800600"/>
            <a:ext cx="822960" cy="274320"/>
          </a:xfrm>
          <a:prstGeom prst="ellipse">
            <a:avLst/>
          </a:prstGeom>
          <a:solidFill>
            <a:srgbClr val="6B0A0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82496" y="4572000"/>
            <a:ext cx="822960" cy="320040"/>
          </a:xfrm>
          <a:prstGeom prst="ellipse">
            <a:avLst/>
          </a:prstGeom>
          <a:solidFill>
            <a:srgbClr val="5A0000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56816" y="4800600"/>
            <a:ext cx="822960" cy="274320"/>
          </a:xfrm>
          <a:prstGeom prst="ellipse">
            <a:avLst/>
          </a:prstGeom>
          <a:solidFill>
            <a:srgbClr val="6B0A0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95728" y="4572000"/>
            <a:ext cx="822960" cy="320040"/>
          </a:xfrm>
          <a:prstGeom prst="ellipse">
            <a:avLst/>
          </a:prstGeom>
          <a:solidFill>
            <a:srgbClr val="5A0000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70048" y="4800600"/>
            <a:ext cx="822960" cy="274320"/>
          </a:xfrm>
          <a:prstGeom prst="ellipse">
            <a:avLst/>
          </a:prstGeom>
          <a:solidFill>
            <a:srgbClr val="6B0A0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08960" y="4572000"/>
            <a:ext cx="822960" cy="320040"/>
          </a:xfrm>
          <a:prstGeom prst="ellipse">
            <a:avLst/>
          </a:prstGeom>
          <a:solidFill>
            <a:srgbClr val="5A0000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83280" y="4800600"/>
            <a:ext cx="822960" cy="274320"/>
          </a:xfrm>
          <a:prstGeom prst="ellipse">
            <a:avLst/>
          </a:prstGeom>
          <a:solidFill>
            <a:srgbClr val="6B0A0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22192" y="4572000"/>
            <a:ext cx="822960" cy="320040"/>
          </a:xfrm>
          <a:prstGeom prst="ellipse">
            <a:avLst/>
          </a:prstGeom>
          <a:solidFill>
            <a:srgbClr val="5A0000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96512" y="4800600"/>
            <a:ext cx="822960" cy="274320"/>
          </a:xfrm>
          <a:prstGeom prst="ellipse">
            <a:avLst/>
          </a:prstGeom>
          <a:solidFill>
            <a:srgbClr val="6B0A0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35424" y="4572000"/>
            <a:ext cx="822960" cy="320040"/>
          </a:xfrm>
          <a:prstGeom prst="ellipse">
            <a:avLst/>
          </a:prstGeom>
          <a:solidFill>
            <a:srgbClr val="5A0000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09744" y="4800600"/>
            <a:ext cx="822960" cy="274320"/>
          </a:xfrm>
          <a:prstGeom prst="ellipse">
            <a:avLst/>
          </a:prstGeom>
          <a:solidFill>
            <a:srgbClr val="6B0A0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48656" y="4572000"/>
            <a:ext cx="822960" cy="320040"/>
          </a:xfrm>
          <a:prstGeom prst="ellipse">
            <a:avLst/>
          </a:prstGeom>
          <a:solidFill>
            <a:srgbClr val="5A0000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522976" y="4800600"/>
            <a:ext cx="822960" cy="274320"/>
          </a:xfrm>
          <a:prstGeom prst="ellipse">
            <a:avLst/>
          </a:prstGeom>
          <a:solidFill>
            <a:srgbClr val="6B0A0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61888" y="4572000"/>
            <a:ext cx="822960" cy="320040"/>
          </a:xfrm>
          <a:prstGeom prst="ellipse">
            <a:avLst/>
          </a:prstGeom>
          <a:solidFill>
            <a:srgbClr val="5A0000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36208" y="4800600"/>
            <a:ext cx="822960" cy="274320"/>
          </a:xfrm>
          <a:prstGeom prst="ellipse">
            <a:avLst/>
          </a:prstGeom>
          <a:solidFill>
            <a:srgbClr val="6B0A0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675120" y="4572000"/>
            <a:ext cx="822960" cy="320040"/>
          </a:xfrm>
          <a:prstGeom prst="ellipse">
            <a:avLst/>
          </a:prstGeom>
          <a:solidFill>
            <a:srgbClr val="5A0000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949440" y="4800600"/>
            <a:ext cx="822960" cy="274320"/>
          </a:xfrm>
          <a:prstGeom prst="ellipse">
            <a:avLst/>
          </a:prstGeom>
          <a:solidFill>
            <a:srgbClr val="6B0A0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388352" y="4572000"/>
            <a:ext cx="822960" cy="320040"/>
          </a:xfrm>
          <a:prstGeom prst="ellipse">
            <a:avLst/>
          </a:prstGeom>
          <a:solidFill>
            <a:srgbClr val="5A0000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662672" y="4800600"/>
            <a:ext cx="822960" cy="274320"/>
          </a:xfrm>
          <a:prstGeom prst="ellipse">
            <a:avLst/>
          </a:prstGeom>
          <a:solidFill>
            <a:srgbClr val="6B0A0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101584" y="4572000"/>
            <a:ext cx="822960" cy="320040"/>
          </a:xfrm>
          <a:prstGeom prst="ellipse">
            <a:avLst/>
          </a:prstGeom>
          <a:solidFill>
            <a:srgbClr val="5A0000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375904" y="4800600"/>
            <a:ext cx="822960" cy="274320"/>
          </a:xfrm>
          <a:prstGeom prst="ellipse">
            <a:avLst/>
          </a:prstGeom>
          <a:solidFill>
            <a:srgbClr val="6B0A0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814816" y="4572000"/>
            <a:ext cx="822960" cy="320040"/>
          </a:xfrm>
          <a:prstGeom prst="ellipse">
            <a:avLst/>
          </a:prstGeom>
          <a:solidFill>
            <a:srgbClr val="5A0000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089136" y="4800600"/>
            <a:ext cx="822960" cy="274320"/>
          </a:xfrm>
          <a:prstGeom prst="ellipse">
            <a:avLst/>
          </a:prstGeom>
          <a:solidFill>
            <a:srgbClr val="6B0A0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023360" y="914400"/>
            <a:ext cx="1097280" cy="1097280"/>
          </a:xfrm>
          <a:prstGeom prst="ellipse">
            <a:avLst/>
          </a:prstGeom>
          <a:solidFill>
            <a:srgbClr val="2A1515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160520" y="1920240"/>
            <a:ext cx="822960" cy="822960"/>
          </a:xfrm>
          <a:prstGeom prst="ellipse">
            <a:avLst/>
          </a:prstGeom>
          <a:solidFill>
            <a:srgbClr val="2A1515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474720" y="2331720"/>
            <a:ext cx="2194560" cy="201168"/>
          </a:xfrm>
          <a:prstGeom prst="rect">
            <a:avLst/>
          </a:prstGeom>
          <a:solidFill>
            <a:srgbClr val="2A1515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Welcome To</a:t>
            </a:r>
            <a:endParaRPr lang="en-US" sz="3600" dirty="0"/>
          </a:p>
        </p:txBody>
      </p:sp>
      <p:sp>
        <p:nvSpPr>
          <p:cNvPr id="62" name="Text 60"/>
          <p:cNvSpPr/>
          <p:nvPr/>
        </p:nvSpPr>
        <p:spPr>
          <a:xfrm>
            <a:off x="457200" y="1325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Hikari Shinro AI</a:t>
            </a:r>
            <a:endParaRPr lang="en-US" sz="3800" dirty="0"/>
          </a:p>
        </p:txBody>
      </p:sp>
      <p:sp>
        <p:nvSpPr>
          <p:cNvPr id="63" name="Text 61"/>
          <p:cNvSpPr/>
          <p:nvPr/>
        </p:nvSpPr>
        <p:spPr>
          <a:xfrm>
            <a:off x="457200" y="1993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spc="200" kern="0" dirty="0">
                <a:solidFill>
                  <a:srgbClr val="FFAAAA"/>
                </a:solidFill>
              </a:rPr>
              <a:t>光の進路  ·  Path of Light  ·  Agentic Navigation for the Visually Impaired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48640" y="2423160"/>
            <a:ext cx="2606040" cy="2331720"/>
          </a:xfrm>
          <a:prstGeom prst="rect">
            <a:avLst/>
          </a:prstGeom>
          <a:solidFill>
            <a:srgbClr val="FFFFFF">
              <a:alpha val="12000"/>
            </a:srgbClr>
          </a:solidFill>
          <a:ln w="1016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" y="248716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👁</a:t>
            </a:r>
            <a:endParaRPr lang="en-US" sz="2200" dirty="0"/>
          </a:p>
        </p:txBody>
      </p:sp>
      <p:sp>
        <p:nvSpPr>
          <p:cNvPr id="66" name="Text 64"/>
          <p:cNvSpPr/>
          <p:nvPr/>
        </p:nvSpPr>
        <p:spPr>
          <a:xfrm>
            <a:off x="640080" y="29718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SEES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658368" y="3310128"/>
            <a:ext cx="2395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</a:rPr>
              <a:t>YOLO-World open-vocab detection + MiDaS monocular depth. Detects any object by name — zero retraining.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429000" y="2423160"/>
            <a:ext cx="2606040" cy="2331720"/>
          </a:xfrm>
          <a:prstGeom prst="rect">
            <a:avLst/>
          </a:prstGeom>
          <a:solidFill>
            <a:srgbClr val="FFFFFF">
              <a:alpha val="12000"/>
            </a:srgbClr>
          </a:solidFill>
          <a:ln w="1016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429000" y="248716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70" name="Text 68"/>
          <p:cNvSpPr/>
          <p:nvPr/>
        </p:nvSpPr>
        <p:spPr>
          <a:xfrm>
            <a:off x="3520440" y="29718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REASONS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3538728" y="3310128"/>
            <a:ext cx="2395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</a:rPr>
              <a:t>LLM Agent (Groq · LLaMA 3) autonomously decomposes goals into subtasks, replanning every frame.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309360" y="2423160"/>
            <a:ext cx="2606040" cy="2331720"/>
          </a:xfrm>
          <a:prstGeom prst="rect">
            <a:avLst/>
          </a:prstGeom>
          <a:solidFill>
            <a:srgbClr val="FFFFFF">
              <a:alpha val="12000"/>
            </a:srgbClr>
          </a:solidFill>
          <a:ln w="1016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09360" y="248716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🗣</a:t>
            </a:r>
            <a:endParaRPr lang="en-US" sz="2200" dirty="0"/>
          </a:p>
        </p:txBody>
      </p:sp>
      <p:sp>
        <p:nvSpPr>
          <p:cNvPr id="74" name="Text 72"/>
          <p:cNvSpPr/>
          <p:nvPr/>
        </p:nvSpPr>
        <p:spPr>
          <a:xfrm>
            <a:off x="6400800" y="29718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GUIDES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6419088" y="3310128"/>
            <a:ext cx="2395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</a:rPr>
              <a:t>pyttsx3 spoken audio + anime HUD for caregivers. Dual output — offline, zero cost.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28600"/>
            <a:ext cx="2057400" cy="1371600"/>
          </a:xfrm>
          <a:prstGeom prst="ellipse">
            <a:avLst/>
          </a:prstGeom>
          <a:solidFill>
            <a:srgbClr val="1A1A1A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0"/>
            <a:ext cx="1828800" cy="1257300"/>
          </a:xfrm>
          <a:prstGeom prst="ellipse">
            <a:avLst/>
          </a:prstGeom>
          <a:solidFill>
            <a:srgbClr val="1A1A1A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97380" y="-228600"/>
            <a:ext cx="1714500" cy="1143000"/>
          </a:xfrm>
          <a:prstGeom prst="ellipse">
            <a:avLst/>
          </a:prstGeom>
          <a:solidFill>
            <a:srgbClr val="1A1A1A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457200"/>
            <a:ext cx="1828800" cy="1257300"/>
          </a:xfrm>
          <a:prstGeom prst="ellipse">
            <a:avLst/>
          </a:prstGeom>
          <a:solidFill>
            <a:srgbClr val="1A1A1A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1580" y="411480"/>
            <a:ext cx="1600200" cy="1097280"/>
          </a:xfrm>
          <a:prstGeom prst="ellipse">
            <a:avLst/>
          </a:prstGeom>
          <a:solidFill>
            <a:srgbClr val="1A1A1A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0280" y="228600"/>
            <a:ext cx="1485900" cy="1028700"/>
          </a:xfrm>
          <a:prstGeom prst="ellipse">
            <a:avLst/>
          </a:prstGeom>
          <a:solidFill>
            <a:srgbClr val="1A1A1A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028700"/>
            <a:ext cx="1600200" cy="960120"/>
          </a:xfrm>
          <a:prstGeom prst="ellipse">
            <a:avLst/>
          </a:prstGeom>
          <a:solidFill>
            <a:srgbClr val="1A1A1A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00200" y="868680"/>
            <a:ext cx="1417320" cy="914400"/>
          </a:xfrm>
          <a:prstGeom prst="ellipse">
            <a:avLst/>
          </a:prstGeom>
          <a:solidFill>
            <a:srgbClr val="1A1A1A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800100"/>
            <a:ext cx="1371600" cy="868680"/>
          </a:xfrm>
          <a:prstGeom prst="ellipse">
            <a:avLst/>
          </a:prstGeom>
          <a:solidFill>
            <a:srgbClr val="1A1A1A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182880"/>
            <a:ext cx="2194560" cy="2194560"/>
          </a:xfrm>
          <a:prstGeom prst="ellipse">
            <a:avLst/>
          </a:prstGeom>
          <a:solidFill>
            <a:srgbClr val="CC1515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20040"/>
            <a:ext cx="347472" cy="347472"/>
          </a:xfrm>
          <a:prstGeom prst="ellipse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20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560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C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7200" y="7498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8-Layer Agentic Pipeline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1078992"/>
            <a:ext cx="5303520" cy="402336"/>
          </a:xfrm>
          <a:prstGeom prst="rect">
            <a:avLst/>
          </a:prstGeom>
          <a:solidFill>
            <a:srgbClr val="1B8A8A">
              <a:alpha val="10000"/>
            </a:srgbClr>
          </a:solidFill>
          <a:ln w="10160">
            <a:solidFill>
              <a:srgbClr val="1B8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1078992"/>
            <a:ext cx="45720" cy="402336"/>
          </a:xfrm>
          <a:prstGeom prst="rect">
            <a:avLst/>
          </a:prstGeom>
          <a:solidFill>
            <a:srgbClr val="1B8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11155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B8A8A"/>
                </a:solidFill>
              </a:rPr>
              <a:t>L1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96112" y="11521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Voice Input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31920" y="11704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8A8A"/>
                </a:solidFill>
              </a:rPr>
              <a:t>Whisper STT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645920" y="1481328"/>
            <a:ext cx="0" cy="82296"/>
          </a:xfrm>
          <a:prstGeom prst="line">
            <a:avLst/>
          </a:prstGeom>
          <a:noFill/>
          <a:ln w="10160">
            <a:solidFill>
              <a:srgbClr val="1B8A8A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365760" y="1563624"/>
            <a:ext cx="5303520" cy="402336"/>
          </a:xfrm>
          <a:prstGeom prst="rect">
            <a:avLst/>
          </a:prstGeom>
          <a:solidFill>
            <a:srgbClr val="CC1515">
              <a:alpha val="10000"/>
            </a:srgbClr>
          </a:solidFill>
          <a:ln w="10160">
            <a:solidFill>
              <a:srgbClr val="CC151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1563624"/>
            <a:ext cx="45720" cy="402336"/>
          </a:xfrm>
          <a:prstGeom prst="rect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16002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C1515"/>
                </a:solidFill>
              </a:rPr>
              <a:t>L2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96112" y="16367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LLM Agent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931920" y="165506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C1515"/>
                </a:solidFill>
              </a:rPr>
              <a:t>Groq · LLaMA 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45920" y="1965960"/>
            <a:ext cx="0" cy="82296"/>
          </a:xfrm>
          <a:prstGeom prst="line">
            <a:avLst/>
          </a:prstGeom>
          <a:noFill/>
          <a:ln w="10160">
            <a:solidFill>
              <a:srgbClr val="CC1515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365760" y="2048256"/>
            <a:ext cx="5303520" cy="402336"/>
          </a:xfrm>
          <a:prstGeom prst="rect">
            <a:avLst/>
          </a:prstGeom>
          <a:solidFill>
            <a:srgbClr val="7B4FA0">
              <a:alpha val="10000"/>
            </a:srgbClr>
          </a:solidFill>
          <a:ln w="10160">
            <a:solidFill>
              <a:srgbClr val="7B4F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2048256"/>
            <a:ext cx="45720" cy="402336"/>
          </a:xfrm>
          <a:prstGeom prst="rect">
            <a:avLst/>
          </a:prstGeom>
          <a:solidFill>
            <a:srgbClr val="7B4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20848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B4FA0"/>
                </a:solidFill>
              </a:rPr>
              <a:t>L3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96112" y="21214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Camera Feed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931920" y="213969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B4FA0"/>
                </a:solidFill>
              </a:rPr>
              <a:t>OpenCV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645920" y="2450592"/>
            <a:ext cx="0" cy="82296"/>
          </a:xfrm>
          <a:prstGeom prst="line">
            <a:avLst/>
          </a:prstGeom>
          <a:noFill/>
          <a:ln w="10160">
            <a:solidFill>
              <a:srgbClr val="7B4FA0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365760" y="2532888"/>
            <a:ext cx="5303520" cy="402336"/>
          </a:xfrm>
          <a:prstGeom prst="rect">
            <a:avLst/>
          </a:prstGeom>
          <a:solidFill>
            <a:srgbClr val="D4821A">
              <a:alpha val="10000"/>
            </a:srgbClr>
          </a:solidFill>
          <a:ln w="10160">
            <a:solidFill>
              <a:srgbClr val="D482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2532888"/>
            <a:ext cx="45720" cy="402336"/>
          </a:xfrm>
          <a:prstGeom prst="rect">
            <a:avLst/>
          </a:prstGeom>
          <a:solidFill>
            <a:srgbClr val="D482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25694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4821A"/>
                </a:solidFill>
              </a:rPr>
              <a:t>L4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96112" y="2606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Detection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931920" y="26243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821A"/>
                </a:solidFill>
              </a:rPr>
              <a:t>YOLO-World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645920" y="2935224"/>
            <a:ext cx="0" cy="82296"/>
          </a:xfrm>
          <a:prstGeom prst="line">
            <a:avLst/>
          </a:prstGeom>
          <a:noFill/>
          <a:ln w="10160">
            <a:solidFill>
              <a:srgbClr val="D4821A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365760" y="3017520"/>
            <a:ext cx="5303520" cy="402336"/>
          </a:xfrm>
          <a:prstGeom prst="rect">
            <a:avLst/>
          </a:prstGeom>
          <a:solidFill>
            <a:srgbClr val="2980B9">
              <a:alpha val="10000"/>
            </a:srgbClr>
          </a:solidFill>
          <a:ln w="10160">
            <a:solidFill>
              <a:srgbClr val="2980B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3017520"/>
            <a:ext cx="45720" cy="402336"/>
          </a:xfrm>
          <a:prstGeom prst="rect">
            <a:avLst/>
          </a:prstGeom>
          <a:solidFill>
            <a:srgbClr val="2980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" y="305409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980B9"/>
                </a:solidFill>
              </a:rPr>
              <a:t>L5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96112" y="30906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Depth Map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931920" y="31089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980B9"/>
                </a:solidFill>
              </a:rPr>
              <a:t>MiDaS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645920" y="3419856"/>
            <a:ext cx="0" cy="82296"/>
          </a:xfrm>
          <a:prstGeom prst="line">
            <a:avLst/>
          </a:prstGeom>
          <a:noFill/>
          <a:ln w="10160">
            <a:solidFill>
              <a:srgbClr val="2980B9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365760" y="3502152"/>
            <a:ext cx="5303520" cy="402336"/>
          </a:xfrm>
          <a:prstGeom prst="rect">
            <a:avLst/>
          </a:prstGeom>
          <a:solidFill>
            <a:srgbClr val="CC1515">
              <a:alpha val="10000"/>
            </a:srgbClr>
          </a:solidFill>
          <a:ln w="10160">
            <a:solidFill>
              <a:srgbClr val="CC151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5760" y="3502152"/>
            <a:ext cx="45720" cy="402336"/>
          </a:xfrm>
          <a:prstGeom prst="rect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8912" y="35387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C1515"/>
                </a:solidFill>
              </a:rPr>
              <a:t>L6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96112" y="35753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Quant Engine ★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931920" y="35935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C1515"/>
                </a:solidFill>
              </a:rPr>
              <a:t>Kalman·A*·Dist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645920" y="3904488"/>
            <a:ext cx="0" cy="82296"/>
          </a:xfrm>
          <a:prstGeom prst="line">
            <a:avLst/>
          </a:prstGeom>
          <a:noFill/>
          <a:ln w="10160">
            <a:solidFill>
              <a:srgbClr val="CC1515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365760" y="3986784"/>
            <a:ext cx="5303520" cy="402336"/>
          </a:xfrm>
          <a:prstGeom prst="rect">
            <a:avLst/>
          </a:prstGeom>
          <a:solidFill>
            <a:srgbClr val="27AE60">
              <a:alpha val="10000"/>
            </a:srgbClr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5760" y="3986784"/>
            <a:ext cx="45720" cy="402336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8912" y="402336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7AE60"/>
                </a:solidFill>
              </a:rPr>
              <a:t>L7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96112" y="40599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TTS Output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3931920" y="40782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pyttsx3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645920" y="4389120"/>
            <a:ext cx="0" cy="82296"/>
          </a:xfrm>
          <a:prstGeom prst="line">
            <a:avLst/>
          </a:prstGeom>
          <a:noFill/>
          <a:ln w="10160">
            <a:solidFill>
              <a:srgbClr val="27AE60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365760" y="4471416"/>
            <a:ext cx="5303520" cy="402336"/>
          </a:xfrm>
          <a:prstGeom prst="rect">
            <a:avLst/>
          </a:prstGeom>
          <a:solidFill>
            <a:srgbClr val="1B8A8A">
              <a:alpha val="10000"/>
            </a:srgbClr>
          </a:solidFill>
          <a:ln w="10160">
            <a:solidFill>
              <a:srgbClr val="1B8A8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5760" y="4471416"/>
            <a:ext cx="45720" cy="402336"/>
          </a:xfrm>
          <a:prstGeom prst="rect">
            <a:avLst/>
          </a:prstGeom>
          <a:solidFill>
            <a:srgbClr val="1B8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8912" y="45079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B8A8A"/>
                </a:solidFill>
              </a:rPr>
              <a:t>L8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96112" y="45445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Web HUD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3931920" y="45628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8A8A"/>
                </a:solidFill>
              </a:rPr>
              <a:t>Flask·Socket.IO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400800" y="2560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AAAAA"/>
                </a:solidFill>
              </a:rPr>
              <a:t>All layers run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AAAAAA"/>
                </a:solidFill>
              </a:rPr>
              <a:t>fully local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AAAAAA"/>
                </a:solidFill>
              </a:rPr>
              <a:t>except Groq API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6858000" y="3520440"/>
            <a:ext cx="1645920" cy="1645920"/>
          </a:xfrm>
          <a:prstGeom prst="ellipse">
            <a:avLst/>
          </a:prstGeom>
          <a:solidFill>
            <a:srgbClr val="1A1A1A"/>
          </a:solidFill>
          <a:ln w="19050">
            <a:solidFill>
              <a:srgbClr val="CC151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58000" y="352044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1515"/>
                </a:solidFill>
              </a:rPr>
              <a:t>₹0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CC1515"/>
                </a:solidFill>
              </a:rPr>
              <a:t>COST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280160" cy="914400"/>
          </a:xfrm>
          <a:prstGeom prst="ellipse">
            <a:avLst/>
          </a:prstGeom>
          <a:solidFill>
            <a:srgbClr val="1A1A1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5720"/>
            <a:ext cx="914400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457200"/>
            <a:ext cx="731520" cy="365760"/>
          </a:xfrm>
          <a:prstGeom prst="ellipse">
            <a:avLst/>
          </a:prstGeom>
          <a:solidFill>
            <a:srgbClr val="F0ED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1097280"/>
            <a:ext cx="731520" cy="365760"/>
          </a:xfrm>
          <a:prstGeom prst="ellipse">
            <a:avLst/>
          </a:prstGeom>
          <a:solidFill>
            <a:srgbClr val="F0ED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1737360"/>
            <a:ext cx="731520" cy="365760"/>
          </a:xfrm>
          <a:prstGeom prst="ellipse">
            <a:avLst/>
          </a:prstGeom>
          <a:solidFill>
            <a:srgbClr val="F0ED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0" y="2377440"/>
            <a:ext cx="731520" cy="365760"/>
          </a:xfrm>
          <a:prstGeom prst="ellipse">
            <a:avLst/>
          </a:prstGeom>
          <a:solidFill>
            <a:srgbClr val="F0ED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0" y="3017520"/>
            <a:ext cx="731520" cy="365760"/>
          </a:xfrm>
          <a:prstGeom prst="ellipse">
            <a:avLst/>
          </a:prstGeom>
          <a:solidFill>
            <a:srgbClr val="F0ED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3657600"/>
            <a:ext cx="731520" cy="365760"/>
          </a:xfrm>
          <a:prstGeom prst="ellipse">
            <a:avLst/>
          </a:prstGeom>
          <a:solidFill>
            <a:srgbClr val="F0ED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C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your AI Agent logic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The Agentic Loop — LLaMA 3 via Groq API · Continuous reasoning without re-prompting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88720" y="1005840"/>
            <a:ext cx="1097280" cy="1097280"/>
          </a:xfrm>
          <a:prstGeom prst="ellipse">
            <a:avLst/>
          </a:prstGeom>
          <a:solidFill>
            <a:srgbClr val="1B8A8A">
              <a:alpha val="18000"/>
            </a:srgbClr>
          </a:solidFill>
          <a:ln w="12700">
            <a:solidFill>
              <a:srgbClr val="1B8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0058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🎤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11480" y="21762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Receive Goal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2468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User speaks. Whisper transcribes locally in ~0.8s. Text sent to LLM agent.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069080" y="1005840"/>
            <a:ext cx="1097280" cy="1097280"/>
          </a:xfrm>
          <a:prstGeom prst="ellipse">
            <a:avLst/>
          </a:prstGeom>
          <a:solidFill>
            <a:srgbClr val="CC1515">
              <a:alpha val="18000"/>
            </a:srgbClr>
          </a:solidFill>
          <a:ln w="12700">
            <a:solidFill>
              <a:srgbClr val="CC151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69080" y="10058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291840" y="21762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Decompose Task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2468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LLM breaks goal into subtasks — what to detect, which direction to guide, what to say.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49440" y="1005840"/>
            <a:ext cx="1097280" cy="1097280"/>
          </a:xfrm>
          <a:prstGeom prst="ellipse">
            <a:avLst/>
          </a:prstGeom>
          <a:solidFill>
            <a:srgbClr val="7B4FA0">
              <a:alpha val="18000"/>
            </a:srgbClr>
          </a:solidFill>
          <a:ln w="12700">
            <a:solidFill>
              <a:srgbClr val="7B4F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10058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172200" y="21762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Observe Scene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2468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YOLO-World + MiDaS run in parallel. Quant Engine calculates distances and A* path.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188720" y="2926080"/>
            <a:ext cx="1097280" cy="1097280"/>
          </a:xfrm>
          <a:prstGeom prst="ellipse">
            <a:avLst/>
          </a:prstGeom>
          <a:solidFill>
            <a:srgbClr val="D4821A">
              <a:alpha val="18000"/>
            </a:srgbClr>
          </a:solidFill>
          <a:ln w="12700">
            <a:solidFill>
              <a:srgbClr val="D482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2926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11480" y="40965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Plan &amp; Replan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43891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Agent selects next action: update detect_next labels, generate spoken guidance, flag obstacles.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069080" y="2926080"/>
            <a:ext cx="1097280" cy="1097280"/>
          </a:xfrm>
          <a:prstGeom prst="ellipse">
            <a:avLst/>
          </a:prstGeom>
          <a:solidFill>
            <a:srgbClr val="27AE60">
              <a:alpha val="18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69080" y="2926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🗣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3291840" y="40965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Speak &amp; Display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91840" y="43891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pyttsx3 speaks guidance offline. Flask HUD updates with annotated frame via Socket.IO.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949440" y="2926080"/>
            <a:ext cx="1097280" cy="1097280"/>
          </a:xfrm>
          <a:prstGeom prst="ellipse">
            <a:avLst/>
          </a:prstGeom>
          <a:solidFill>
            <a:srgbClr val="CC1515">
              <a:alpha val="18000"/>
            </a:srgbClr>
          </a:solidFill>
          <a:ln w="12700">
            <a:solidFill>
              <a:srgbClr val="CC151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2926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🔁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172200" y="40965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Loop / Goal Check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72200" y="43891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Goal reached? → Stop. Otherwise → return to Step 3 automatically. No human re-prompting needed.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2880360" cy="1920240"/>
          </a:xfrm>
          <a:prstGeom prst="ellipse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25880" y="45720"/>
            <a:ext cx="2560320" cy="1760220"/>
          </a:xfrm>
          <a:prstGeom prst="ellipse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66060" y="-274320"/>
            <a:ext cx="2400300" cy="1600200"/>
          </a:xfrm>
          <a:prstGeom prst="ellipse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685800"/>
            <a:ext cx="2560320" cy="1760220"/>
          </a:xfrm>
          <a:prstGeom prst="ellipse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05940" y="621792"/>
            <a:ext cx="2240280" cy="1536192"/>
          </a:xfrm>
          <a:prstGeom prst="ellipse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46120" y="365760"/>
            <a:ext cx="2080260" cy="1440180"/>
          </a:xfrm>
          <a:prstGeom prst="ellipse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1485900"/>
            <a:ext cx="2240280" cy="1344168"/>
          </a:xfrm>
          <a:prstGeom prst="ellipse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50008" y="1261872"/>
            <a:ext cx="1984248" cy="1280160"/>
          </a:xfrm>
          <a:prstGeom prst="ellipse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165860"/>
            <a:ext cx="1920240" cy="1216152"/>
          </a:xfrm>
          <a:prstGeom prst="ellipse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051560"/>
            <a:ext cx="365760" cy="365760"/>
          </a:xfrm>
          <a:prstGeom prst="ellipse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987552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C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Flow Diagram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7200" y="15087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Level 1 DFD · All processes, data stores, and external entities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274320"/>
            <a:ext cx="228600" cy="201168"/>
          </a:xfrm>
          <a:prstGeom prst="ellipse">
            <a:avLst/>
          </a:prstGeom>
          <a:solidFill>
            <a:srgbClr val="FF88A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0" y="457200"/>
            <a:ext cx="164592" cy="146304"/>
          </a:xfrm>
          <a:prstGeom prst="ellipse">
            <a:avLst/>
          </a:prstGeom>
          <a:solidFill>
            <a:srgbClr val="FFAACC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9665" y="640080"/>
            <a:ext cx="228600" cy="201168"/>
          </a:xfrm>
          <a:prstGeom prst="ellipse">
            <a:avLst/>
          </a:prstGeom>
          <a:solidFill>
            <a:srgbClr val="FF88A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29941" y="777240"/>
            <a:ext cx="164592" cy="146304"/>
          </a:xfrm>
          <a:prstGeom prst="ellipse">
            <a:avLst/>
          </a:prstGeom>
          <a:solidFill>
            <a:srgbClr val="FFAACC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56877" y="1005840"/>
            <a:ext cx="228600" cy="201168"/>
          </a:xfrm>
          <a:prstGeom prst="ellipse">
            <a:avLst/>
          </a:prstGeom>
          <a:solidFill>
            <a:srgbClr val="FF88A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80110" y="1097280"/>
            <a:ext cx="164592" cy="146304"/>
          </a:xfrm>
          <a:prstGeom prst="ellipse">
            <a:avLst/>
          </a:prstGeom>
          <a:solidFill>
            <a:srgbClr val="FFAACC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35424" y="1371600"/>
            <a:ext cx="228600" cy="201168"/>
          </a:xfrm>
          <a:prstGeom prst="ellipse">
            <a:avLst/>
          </a:prstGeom>
          <a:solidFill>
            <a:srgbClr val="FF88A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70220" y="1417320"/>
            <a:ext cx="164592" cy="146304"/>
          </a:xfrm>
          <a:prstGeom prst="ellipse">
            <a:avLst/>
          </a:prstGeom>
          <a:solidFill>
            <a:srgbClr val="FFAACC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2788" y="1737360"/>
            <a:ext cx="228600" cy="201168"/>
          </a:xfrm>
          <a:prstGeom prst="ellipse">
            <a:avLst/>
          </a:prstGeom>
          <a:solidFill>
            <a:srgbClr val="FF88A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93243" y="1737360"/>
            <a:ext cx="164592" cy="146304"/>
          </a:xfrm>
          <a:prstGeom prst="ellipse">
            <a:avLst/>
          </a:prstGeom>
          <a:solidFill>
            <a:srgbClr val="FFAACC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31896" y="2103120"/>
            <a:ext cx="228600" cy="201168"/>
          </a:xfrm>
          <a:prstGeom prst="ellipse">
            <a:avLst/>
          </a:prstGeom>
          <a:solidFill>
            <a:srgbClr val="FF88A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36072" y="2057400"/>
            <a:ext cx="164592" cy="146304"/>
          </a:xfrm>
          <a:prstGeom prst="ellipse">
            <a:avLst/>
          </a:prstGeom>
          <a:solidFill>
            <a:srgbClr val="FFAACC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04701" y="2468880"/>
            <a:ext cx="228600" cy="201168"/>
          </a:xfrm>
          <a:prstGeom prst="ellipse">
            <a:avLst/>
          </a:prstGeom>
          <a:solidFill>
            <a:srgbClr val="FF88A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3512" y="2377440"/>
            <a:ext cx="164592" cy="146304"/>
          </a:xfrm>
          <a:prstGeom prst="ellipse">
            <a:avLst/>
          </a:prstGeom>
          <a:solidFill>
            <a:srgbClr val="FFAACC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18449" y="2834640"/>
            <a:ext cx="228600" cy="201168"/>
          </a:xfrm>
          <a:prstGeom prst="ellipse">
            <a:avLst/>
          </a:prstGeom>
          <a:solidFill>
            <a:srgbClr val="FF88A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08067" y="2697480"/>
            <a:ext cx="164592" cy="146304"/>
          </a:xfrm>
          <a:prstGeom prst="ellipse">
            <a:avLst/>
          </a:prstGeom>
          <a:solidFill>
            <a:srgbClr val="FFAACC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0" y="182880"/>
            <a:ext cx="0" cy="3200400"/>
          </a:xfrm>
          <a:prstGeom prst="line">
            <a:avLst/>
          </a:prstGeom>
          <a:noFill/>
          <a:ln w="19050">
            <a:solidFill>
              <a:srgbClr val="553322">
                <a:alpha val="6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" y="1920240"/>
            <a:ext cx="1097280" cy="502920"/>
          </a:xfrm>
          <a:prstGeom prst="rect">
            <a:avLst/>
          </a:prstGeom>
          <a:solidFill>
            <a:srgbClr val="CC1515">
              <a:alpha val="75000"/>
            </a:srgbClr>
          </a:solidFill>
          <a:ln w="15240">
            <a:solidFill>
              <a:srgbClr val="CC151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19202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82880" y="3200400"/>
            <a:ext cx="1097280" cy="502920"/>
          </a:xfrm>
          <a:prstGeom prst="rect">
            <a:avLst/>
          </a:prstGeom>
          <a:solidFill>
            <a:srgbClr val="7B4FA0">
              <a:alpha val="75000"/>
            </a:srgbClr>
          </a:solidFill>
          <a:ln w="15240">
            <a:solidFill>
              <a:srgbClr val="7B4F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3200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Camera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863840" y="2560320"/>
            <a:ext cx="1097280" cy="502920"/>
          </a:xfrm>
          <a:prstGeom prst="rect">
            <a:avLst/>
          </a:prstGeom>
          <a:solidFill>
            <a:srgbClr val="CC1515">
              <a:alpha val="75000"/>
            </a:srgbClr>
          </a:solidFill>
          <a:ln w="15240">
            <a:solidFill>
              <a:srgbClr val="CC151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63840" y="2560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Caregiver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645920" y="1828800"/>
            <a:ext cx="1371600" cy="658368"/>
          </a:xfrm>
          <a:prstGeom prst="ellipse">
            <a:avLst/>
          </a:prstGeom>
          <a:solidFill>
            <a:srgbClr val="1B8A8A">
              <a:alpha val="25000"/>
            </a:srgbClr>
          </a:solidFill>
          <a:ln w="12700">
            <a:solidFill>
              <a:srgbClr val="1B8A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45920" y="1828800"/>
            <a:ext cx="1371600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P1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Whisper STT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91840" y="1280160"/>
            <a:ext cx="1371600" cy="658368"/>
          </a:xfrm>
          <a:prstGeom prst="ellipse">
            <a:avLst/>
          </a:prstGeom>
          <a:solidFill>
            <a:srgbClr val="CC1515">
              <a:alpha val="25000"/>
            </a:srgbClr>
          </a:solidFill>
          <a:ln w="12700">
            <a:solidFill>
              <a:srgbClr val="CC151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1840" y="1280160"/>
            <a:ext cx="1371600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LLM Agent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291840" y="2926080"/>
            <a:ext cx="1371600" cy="658368"/>
          </a:xfrm>
          <a:prstGeom prst="ellipse">
            <a:avLst/>
          </a:prstGeom>
          <a:solidFill>
            <a:srgbClr val="D4821A">
              <a:alpha val="25000"/>
            </a:srgbClr>
          </a:solidFill>
          <a:ln w="12700">
            <a:solidFill>
              <a:srgbClr val="D482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0" y="2926080"/>
            <a:ext cx="1371600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YOLO-World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645920" y="3474720"/>
            <a:ext cx="1371600" cy="658368"/>
          </a:xfrm>
          <a:prstGeom prst="ellipse">
            <a:avLst/>
          </a:prstGeom>
          <a:solidFill>
            <a:srgbClr val="2980B9">
              <a:alpha val="25000"/>
            </a:srgbClr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45920" y="3474720"/>
            <a:ext cx="1371600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P4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MiDaS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029200" y="2926080"/>
            <a:ext cx="1371600" cy="658368"/>
          </a:xfrm>
          <a:prstGeom prst="ellipse">
            <a:avLst/>
          </a:prstGeom>
          <a:solidFill>
            <a:srgbClr val="CC1515">
              <a:alpha val="25000"/>
            </a:srgbClr>
          </a:solidFill>
          <a:ln w="12700">
            <a:solidFill>
              <a:srgbClr val="CC151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0" y="2926080"/>
            <a:ext cx="1371600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P5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Quant Engine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583680" y="1463040"/>
            <a:ext cx="1371600" cy="658368"/>
          </a:xfrm>
          <a:prstGeom prst="ellipse">
            <a:avLst/>
          </a:prstGeom>
          <a:solidFill>
            <a:srgbClr val="27AE60">
              <a:alpha val="25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83680" y="1463040"/>
            <a:ext cx="1371600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P6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TTS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583680" y="3017520"/>
            <a:ext cx="1371600" cy="658368"/>
          </a:xfrm>
          <a:prstGeom prst="ellipse">
            <a:avLst/>
          </a:prstGeom>
          <a:solidFill>
            <a:srgbClr val="1B8A8A">
              <a:alpha val="25000"/>
            </a:srgbClr>
          </a:solidFill>
          <a:ln w="12700">
            <a:solidFill>
              <a:srgbClr val="1B8A8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0" y="3017520"/>
            <a:ext cx="1371600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P7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Flask HUD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291840" y="2103120"/>
            <a:ext cx="1371600" cy="438912"/>
          </a:xfrm>
          <a:prstGeom prst="rect">
            <a:avLst/>
          </a:prstGeom>
          <a:solidFill>
            <a:srgbClr val="333333"/>
          </a:solidFill>
          <a:ln w="10160">
            <a:solidFill>
              <a:srgbClr val="66666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91840" y="2103120"/>
            <a:ext cx="1371600" cy="0"/>
          </a:xfrm>
          <a:prstGeom prst="line">
            <a:avLst/>
          </a:prstGeom>
          <a:noFill/>
          <a:ln w="10160">
            <a:solidFill>
              <a:srgbClr val="66666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91840" y="2542032"/>
            <a:ext cx="1371600" cy="0"/>
          </a:xfrm>
          <a:prstGeom prst="line">
            <a:avLst/>
          </a:prstGeom>
          <a:noFill/>
          <a:ln w="10160">
            <a:solidFill>
              <a:srgbClr val="66666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91840" y="213969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BBBB"/>
                </a:solidFill>
              </a:rPr>
              <a:t>Context Buffer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280160" y="2167128"/>
            <a:ext cx="366674" cy="0"/>
          </a:xfrm>
          <a:prstGeom prst="line">
            <a:avLst/>
          </a:prstGeom>
          <a:noFill/>
          <a:ln w="10160">
            <a:solidFill>
              <a:srgbClr val="555555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3017520" y="1664208"/>
            <a:ext cx="275234" cy="0"/>
          </a:xfrm>
          <a:prstGeom prst="line">
            <a:avLst/>
          </a:prstGeom>
          <a:noFill/>
          <a:ln w="10160">
            <a:solidFill>
              <a:srgbClr val="555555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4663440" y="1618488"/>
            <a:ext cx="1921154" cy="182880"/>
          </a:xfrm>
          <a:prstGeom prst="line">
            <a:avLst/>
          </a:prstGeom>
          <a:noFill/>
          <a:ln w="10160">
            <a:solidFill>
              <a:srgbClr val="555555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4663440" y="3264408"/>
            <a:ext cx="366674" cy="0"/>
          </a:xfrm>
          <a:prstGeom prst="line">
            <a:avLst/>
          </a:prstGeom>
          <a:noFill/>
          <a:ln w="10160">
            <a:solidFill>
              <a:srgbClr val="555555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6400800" y="3337560"/>
            <a:ext cx="183794" cy="0"/>
          </a:xfrm>
          <a:prstGeom prst="line">
            <a:avLst/>
          </a:prstGeom>
          <a:noFill/>
          <a:ln w="10160">
            <a:solidFill>
              <a:srgbClr val="555555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>
            <a:off x="8229600" y="2834640"/>
            <a:ext cx="-364846" cy="0"/>
          </a:xfrm>
          <a:prstGeom prst="line">
            <a:avLst/>
          </a:prstGeom>
          <a:noFill/>
          <a:ln w="10160">
            <a:solidFill>
              <a:srgbClr val="555555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>
            <a:off x="3017520" y="3246120"/>
            <a:ext cx="275234" cy="0"/>
          </a:xfrm>
          <a:prstGeom prst="line">
            <a:avLst/>
          </a:prstGeom>
          <a:noFill/>
          <a:ln w="10160">
            <a:solidFill>
              <a:srgbClr val="555555"/>
            </a:solidFill>
            <a:prstDash val="dash"/>
          </a:ln>
        </p:spPr>
      </p:sp>
      <p:sp>
        <p:nvSpPr>
          <p:cNvPr id="63" name="Shape 61"/>
          <p:cNvSpPr/>
          <p:nvPr/>
        </p:nvSpPr>
        <p:spPr>
          <a:xfrm>
            <a:off x="1280160" y="3721608"/>
            <a:ext cx="366674" cy="100584"/>
          </a:xfrm>
          <a:prstGeom prst="line">
            <a:avLst/>
          </a:prstGeom>
          <a:noFill/>
          <a:ln w="10160">
            <a:solidFill>
              <a:srgbClr val="555555"/>
            </a:solidFill>
            <a:prstDash val="dash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" y="3657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C0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進路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732520" y="3657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C0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光明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-45720" y="123444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C0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進路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32520" y="123444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C0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光明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-45720" y="21031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C0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進路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732520" y="21031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C0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光明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-45720" y="29718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C0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進路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32520" y="29718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C0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光明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-45720" y="38404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C0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進路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732520" y="38404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C0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光明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0"/>
            <a:ext cx="0" cy="5143500"/>
          </a:xfrm>
          <a:prstGeom prst="line">
            <a:avLst/>
          </a:prstGeom>
          <a:noFill/>
          <a:ln w="12700">
            <a:solidFill>
              <a:srgbClr val="D8D0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41080" y="0"/>
            <a:ext cx="0" cy="5143500"/>
          </a:xfrm>
          <a:prstGeom prst="line">
            <a:avLst/>
          </a:prstGeom>
          <a:noFill/>
          <a:ln w="12700">
            <a:solidFill>
              <a:srgbClr val="D8D0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182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Research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71600" y="7498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</a:rPr>
              <a:t>Quant × AI — Four explicit mathematical algorithms baked into every decision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1115568"/>
            <a:ext cx="1463040" cy="1463040"/>
          </a:xfrm>
          <a:prstGeom prst="ellipse">
            <a:avLst/>
          </a:prstGeom>
          <a:solidFill>
            <a:srgbClr val="CC1515">
              <a:alpha val="15000"/>
            </a:srgbClr>
          </a:solidFill>
          <a:ln w="31750">
            <a:solidFill>
              <a:srgbClr val="CC151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" y="1344168"/>
            <a:ext cx="1005840" cy="1005840"/>
          </a:xfrm>
          <a:prstGeom prst="ellipse">
            <a:avLst/>
          </a:prstGeom>
          <a:solidFill>
            <a:srgbClr val="F8F5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1344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1515"/>
                </a:solidFill>
              </a:rPr>
              <a:t>①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5800" y="2633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Kalman Filter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29260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1515"/>
                </a:solidFill>
              </a:rPr>
              <a:t>Statistical tracking across frames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22960" y="3200400"/>
            <a:ext cx="1645920" cy="0"/>
          </a:xfrm>
          <a:prstGeom prst="line">
            <a:avLst/>
          </a:prstGeom>
          <a:noFill/>
          <a:ln w="6350">
            <a:solidFill>
              <a:srgbClr val="D8D0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25526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SciPy linear algebra · position estimation · occlusion handling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926080" y="1115568"/>
            <a:ext cx="1463040" cy="1463040"/>
          </a:xfrm>
          <a:prstGeom prst="ellipse">
            <a:avLst/>
          </a:prstGeom>
          <a:solidFill>
            <a:srgbClr val="1B8A8A">
              <a:alpha val="15000"/>
            </a:srgbClr>
          </a:solidFill>
          <a:ln w="31750">
            <a:solidFill>
              <a:srgbClr val="1B8A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54680" y="1344168"/>
            <a:ext cx="1005840" cy="1005840"/>
          </a:xfrm>
          <a:prstGeom prst="ellipse">
            <a:avLst/>
          </a:prstGeom>
          <a:solidFill>
            <a:srgbClr val="F8F5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54680" y="1344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8A8A"/>
                </a:solidFill>
              </a:rPr>
              <a:t>②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2697480" y="2633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A* Pathfinding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97480" y="29260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8A8A"/>
                </a:solidFill>
              </a:rPr>
              <a:t>Shortest safe route planning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834640" y="3200400"/>
            <a:ext cx="1645920" cy="0"/>
          </a:xfrm>
          <a:prstGeom prst="line">
            <a:avLst/>
          </a:prstGeom>
          <a:noFill/>
          <a:ln w="6350">
            <a:solidFill>
              <a:srgbClr val="D8D0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97480" y="325526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heapq Python stdlib · 2D obstacle grid from MiDaS depth map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937760" y="1115568"/>
            <a:ext cx="1463040" cy="1463040"/>
          </a:xfrm>
          <a:prstGeom prst="ellipse">
            <a:avLst/>
          </a:prstGeom>
          <a:solidFill>
            <a:srgbClr val="D4821A">
              <a:alpha val="15000"/>
            </a:srgbClr>
          </a:solidFill>
          <a:ln w="31750">
            <a:solidFill>
              <a:srgbClr val="D482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66360" y="1344168"/>
            <a:ext cx="1005840" cy="1005840"/>
          </a:xfrm>
          <a:prstGeom prst="ellipse">
            <a:avLst/>
          </a:prstGeom>
          <a:solidFill>
            <a:srgbClr val="F8F5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1344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821A"/>
                </a:solidFill>
              </a:rPr>
              <a:t>③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4709160" y="2633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Euclidean Dist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09160" y="29260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821A"/>
                </a:solidFill>
              </a:rPr>
              <a:t>Real-world distance calculation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3200400"/>
            <a:ext cx="1645920" cy="0"/>
          </a:xfrm>
          <a:prstGeom prst="line">
            <a:avLst/>
          </a:prstGeom>
          <a:noFill/>
          <a:ln w="6350">
            <a:solidFill>
              <a:srgbClr val="D8D0C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25526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√(Δx²+Δy²+Δz²) · 3D point cloud from depth values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949440" y="1115568"/>
            <a:ext cx="1463040" cy="1463040"/>
          </a:xfrm>
          <a:prstGeom prst="ellipse">
            <a:avLst/>
          </a:prstGeom>
          <a:solidFill>
            <a:srgbClr val="7B4FA0">
              <a:alpha val="15000"/>
            </a:srgbClr>
          </a:solidFill>
          <a:ln w="31750">
            <a:solidFill>
              <a:srgbClr val="7B4FA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78040" y="1344168"/>
            <a:ext cx="1005840" cy="1005840"/>
          </a:xfrm>
          <a:prstGeom prst="ellipse">
            <a:avLst/>
          </a:prstGeom>
          <a:solidFill>
            <a:srgbClr val="F8F5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78040" y="1344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B4FA0"/>
                </a:solidFill>
              </a:rPr>
              <a:t>④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6720840" y="2633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Conf. Score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20840" y="29260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4FA0"/>
                </a:solidFill>
              </a:rPr>
              <a:t>Statistical detection filtering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858000" y="3200400"/>
            <a:ext cx="1645920" cy="0"/>
          </a:xfrm>
          <a:prstGeom prst="line">
            <a:avLst/>
          </a:prstGeom>
          <a:noFill/>
          <a:ln w="6350">
            <a:solidFill>
              <a:srgbClr val="D8D0C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20840" y="325526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Threshold ≥ 0.6 · eliminates noise before LLM agent receives data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40080" y="3950208"/>
            <a:ext cx="7863840" cy="9601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40050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C1515"/>
                </a:solidFill>
              </a:rPr>
              <a:t>Mathematical Foundations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31520" y="424281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Kalman: x̂ₖ = Axₖ₋₁ + Buₖ  |  A*: f(n) = g(n)+h(n)  |  Dist: d=√(Δx²+Δy²+Δz²)  |  Conf: P(obj|feat) ≥ 0.6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" y="-91440"/>
            <a:ext cx="822960" cy="457200"/>
          </a:xfrm>
          <a:prstGeom prst="ellipse">
            <a:avLst/>
          </a:prstGeom>
          <a:solidFill>
            <a:srgbClr val="AA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-91440"/>
            <a:ext cx="822960" cy="457200"/>
          </a:xfrm>
          <a:prstGeom prst="ellipse">
            <a:avLst/>
          </a:prstGeom>
          <a:solidFill>
            <a:srgbClr val="AA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-91440"/>
            <a:ext cx="822960" cy="457200"/>
          </a:xfrm>
          <a:prstGeom prst="ellipse">
            <a:avLst/>
          </a:prstGeom>
          <a:solidFill>
            <a:srgbClr val="AA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97480" y="-91440"/>
            <a:ext cx="822960" cy="457200"/>
          </a:xfrm>
          <a:prstGeom prst="ellipse">
            <a:avLst/>
          </a:prstGeom>
          <a:solidFill>
            <a:srgbClr val="AA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-91440"/>
            <a:ext cx="822960" cy="457200"/>
          </a:xfrm>
          <a:prstGeom prst="ellipse">
            <a:avLst/>
          </a:prstGeom>
          <a:solidFill>
            <a:srgbClr val="AA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17720" y="-91440"/>
            <a:ext cx="822960" cy="457200"/>
          </a:xfrm>
          <a:prstGeom prst="ellipse">
            <a:avLst/>
          </a:prstGeom>
          <a:solidFill>
            <a:srgbClr val="AA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77840" y="-91440"/>
            <a:ext cx="822960" cy="457200"/>
          </a:xfrm>
          <a:prstGeom prst="ellipse">
            <a:avLst/>
          </a:prstGeom>
          <a:solidFill>
            <a:srgbClr val="AA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-91440"/>
            <a:ext cx="822960" cy="457200"/>
          </a:xfrm>
          <a:prstGeom prst="ellipse">
            <a:avLst/>
          </a:prstGeom>
          <a:solidFill>
            <a:srgbClr val="AA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0" y="-91440"/>
            <a:ext cx="822960" cy="457200"/>
          </a:xfrm>
          <a:prstGeom prst="ellipse">
            <a:avLst/>
          </a:prstGeom>
          <a:solidFill>
            <a:srgbClr val="AA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58200" y="-91440"/>
            <a:ext cx="822960" cy="457200"/>
          </a:xfrm>
          <a:prstGeom prst="ellipse">
            <a:avLst/>
          </a:prstGeom>
          <a:solidFill>
            <a:srgbClr val="AA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0" y="10972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Gallery Image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8B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-182880" y="4800600"/>
            <a:ext cx="822960" cy="457200"/>
          </a:xfrm>
          <a:prstGeom prst="ellipse">
            <a:avLst/>
          </a:prstGeom>
          <a:solidFill>
            <a:srgbClr val="AA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800600"/>
            <a:ext cx="822960" cy="457200"/>
          </a:xfrm>
          <a:prstGeom prst="ellipse">
            <a:avLst/>
          </a:prstGeom>
          <a:solidFill>
            <a:srgbClr val="AA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37360" y="4800600"/>
            <a:ext cx="822960" cy="457200"/>
          </a:xfrm>
          <a:prstGeom prst="ellipse">
            <a:avLst/>
          </a:prstGeom>
          <a:solidFill>
            <a:srgbClr val="AA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97480" y="4800600"/>
            <a:ext cx="822960" cy="457200"/>
          </a:xfrm>
          <a:prstGeom prst="ellipse">
            <a:avLst/>
          </a:prstGeom>
          <a:solidFill>
            <a:srgbClr val="AA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4800600"/>
            <a:ext cx="822960" cy="457200"/>
          </a:xfrm>
          <a:prstGeom prst="ellipse">
            <a:avLst/>
          </a:prstGeom>
          <a:solidFill>
            <a:srgbClr val="AA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4800600"/>
            <a:ext cx="822960" cy="457200"/>
          </a:xfrm>
          <a:prstGeom prst="ellipse">
            <a:avLst/>
          </a:prstGeom>
          <a:solidFill>
            <a:srgbClr val="AA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4800600"/>
            <a:ext cx="822960" cy="457200"/>
          </a:xfrm>
          <a:prstGeom prst="ellipse">
            <a:avLst/>
          </a:prstGeom>
          <a:solidFill>
            <a:srgbClr val="AA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4800600"/>
            <a:ext cx="822960" cy="457200"/>
          </a:xfrm>
          <a:prstGeom prst="ellipse">
            <a:avLst/>
          </a:prstGeom>
          <a:solidFill>
            <a:srgbClr val="AA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0" y="4800600"/>
            <a:ext cx="822960" cy="457200"/>
          </a:xfrm>
          <a:prstGeom prst="ellipse">
            <a:avLst/>
          </a:prstGeom>
          <a:solidFill>
            <a:srgbClr val="AA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58200" y="4800600"/>
            <a:ext cx="822960" cy="457200"/>
          </a:xfrm>
          <a:prstGeom prst="ellipse">
            <a:avLst/>
          </a:prstGeom>
          <a:solidFill>
            <a:srgbClr val="AA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6268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AAAA"/>
                </a:solidFill>
              </a:rPr>
              <a:t>YOLO-World Open-Vocabulary Detection  ·  Zero Retraining  ·  Directly satisfies PS1 requirement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777240"/>
            <a:ext cx="347472" cy="347472"/>
          </a:xfrm>
          <a:prstGeom prst="ellipse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777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749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YOLO-World Detection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57200" y="1234440"/>
            <a:ext cx="2560320" cy="2560320"/>
          </a:xfrm>
          <a:prstGeom prst="ellipse">
            <a:avLst/>
          </a:prstGeom>
          <a:solidFill>
            <a:srgbClr val="CC1515">
              <a:alpha val="20000"/>
            </a:srgbClr>
          </a:solidFill>
          <a:ln w="25400">
            <a:solidFill>
              <a:srgbClr val="CC151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1508760"/>
            <a:ext cx="2011680" cy="2011680"/>
          </a:xfrm>
          <a:prstGeom prst="ellipse">
            <a:avLst/>
          </a:prstGeom>
          <a:solidFill>
            <a:srgbClr val="CC1515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1371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1515"/>
                </a:solidFill>
              </a:rPr>
              <a:t>Traditional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77240" y="1847088"/>
            <a:ext cx="182880" cy="182880"/>
          </a:xfrm>
          <a:prstGeom prst="ellipse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4128" y="179222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Fixed 80 classes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77240" y="2231136"/>
            <a:ext cx="182880" cy="182880"/>
          </a:xfrm>
          <a:prstGeom prst="ellipse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4128" y="217627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Retraining required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77240" y="2615184"/>
            <a:ext cx="182880" cy="182880"/>
          </a:xfrm>
          <a:prstGeom prst="ellipse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4128" y="25603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Hours/days to add new objects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77240" y="2999232"/>
            <a:ext cx="182880" cy="182880"/>
          </a:xfrm>
          <a:prstGeom prst="ellipse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24128" y="29443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Cannot adapt on the fly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3822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1515"/>
                </a:solidFill>
              </a:rPr>
              <a:t>✗ Old approach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37560" y="1234440"/>
            <a:ext cx="2560320" cy="2560320"/>
          </a:xfrm>
          <a:prstGeom prst="ellipse">
            <a:avLst/>
          </a:prstGeom>
          <a:solidFill>
            <a:srgbClr val="1B8A8A">
              <a:alpha val="20000"/>
            </a:srgbClr>
          </a:solidFill>
          <a:ln w="25400">
            <a:solidFill>
              <a:srgbClr val="1B8A8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11880" y="1508760"/>
            <a:ext cx="2011680" cy="2011680"/>
          </a:xfrm>
          <a:prstGeom prst="ellipse">
            <a:avLst/>
          </a:prstGeom>
          <a:solidFill>
            <a:srgbClr val="1B8A8A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29000" y="1371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A8A"/>
                </a:solidFill>
              </a:rPr>
              <a:t>YOLO-World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657600" y="1847088"/>
            <a:ext cx="182880" cy="182880"/>
          </a:xfrm>
          <a:prstGeom prst="ellipse">
            <a:avLst/>
          </a:prstGeom>
          <a:solidFill>
            <a:srgbClr val="1B8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04488" y="179222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Open vocabulary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0" y="2231136"/>
            <a:ext cx="182880" cy="182880"/>
          </a:xfrm>
          <a:prstGeom prst="ellipse">
            <a:avLst/>
          </a:prstGeom>
          <a:solidFill>
            <a:srgbClr val="1B8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04488" y="217627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Text → detect instantly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0" y="2615184"/>
            <a:ext cx="182880" cy="182880"/>
          </a:xfrm>
          <a:prstGeom prst="ellipse">
            <a:avLst/>
          </a:prstGeom>
          <a:solidFill>
            <a:srgbClr val="1B8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04488" y="25603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Any object, any name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657600" y="2999232"/>
            <a:ext cx="182880" cy="182880"/>
          </a:xfrm>
          <a:prstGeom prst="ellipse">
            <a:avLst/>
          </a:prstGeom>
          <a:solidFill>
            <a:srgbClr val="1B8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04488" y="29443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Zero retraining, ever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337560" y="3822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8A8A"/>
                </a:solidFill>
              </a:rPr>
              <a:t>✓ Used in Hikari Shinro AI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217920" y="1234440"/>
            <a:ext cx="2560320" cy="2560320"/>
          </a:xfrm>
          <a:prstGeom prst="ellipse">
            <a:avLst/>
          </a:prstGeom>
          <a:solidFill>
            <a:srgbClr val="D4821A">
              <a:alpha val="20000"/>
            </a:srgbClr>
          </a:solidFill>
          <a:ln w="25400">
            <a:solidFill>
              <a:srgbClr val="D4821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92240" y="1508760"/>
            <a:ext cx="2011680" cy="2011680"/>
          </a:xfrm>
          <a:prstGeom prst="ellipse">
            <a:avLst/>
          </a:prstGeom>
          <a:solidFill>
            <a:srgbClr val="D4821A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9360" y="1371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821A"/>
                </a:solidFill>
              </a:rPr>
              <a:t>In Practice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537960" y="1847088"/>
            <a:ext cx="182880" cy="182880"/>
          </a:xfrm>
          <a:prstGeom prst="ellipse">
            <a:avLst/>
          </a:prstGeom>
          <a:solidFill>
            <a:srgbClr val="D482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84848" y="179222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LLM says: detect 'door'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537960" y="2231136"/>
            <a:ext cx="182880" cy="182880"/>
          </a:xfrm>
          <a:prstGeom prst="ellipse">
            <a:avLst/>
          </a:prstGeom>
          <a:solidFill>
            <a:srgbClr val="D482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84848" y="217627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YOLO finds it — immediately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537960" y="2615184"/>
            <a:ext cx="182880" cy="182880"/>
          </a:xfrm>
          <a:prstGeom prst="ellipse">
            <a:avLst/>
          </a:prstGeom>
          <a:solidFill>
            <a:srgbClr val="D482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84848" y="25603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Next frame: detect 'steps'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537960" y="2999232"/>
            <a:ext cx="182880" cy="182880"/>
          </a:xfrm>
          <a:prstGeom prst="ellipse">
            <a:avLst/>
          </a:prstGeom>
          <a:solidFill>
            <a:srgbClr val="D482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84848" y="29443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Works in real time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217920" y="3822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821A"/>
                </a:solidFill>
              </a:rPr>
              <a:t>✓ Agent-driven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1234440" cy="822960"/>
          </a:xfrm>
          <a:prstGeom prst="ellipse">
            <a:avLst/>
          </a:prstGeom>
          <a:solidFill>
            <a:srgbClr val="C8BFB5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137160"/>
            <a:ext cx="1097280" cy="754380"/>
          </a:xfrm>
          <a:prstGeom prst="ellipse">
            <a:avLst/>
          </a:prstGeom>
          <a:solidFill>
            <a:srgbClr val="C8BFB5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5900" y="0"/>
            <a:ext cx="1028700" cy="685800"/>
          </a:xfrm>
          <a:prstGeom prst="ellipse">
            <a:avLst/>
          </a:prstGeom>
          <a:solidFill>
            <a:srgbClr val="C8BFB5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11480"/>
            <a:ext cx="1097280" cy="754380"/>
          </a:xfrm>
          <a:prstGeom prst="ellipse">
            <a:avLst/>
          </a:prstGeom>
          <a:solidFill>
            <a:srgbClr val="C8BFB5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4420" y="384048"/>
            <a:ext cx="960120" cy="658368"/>
          </a:xfrm>
          <a:prstGeom prst="ellipse">
            <a:avLst/>
          </a:prstGeom>
          <a:solidFill>
            <a:srgbClr val="C8BFB5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1640" y="274320"/>
            <a:ext cx="891540" cy="617220"/>
          </a:xfrm>
          <a:prstGeom prst="ellipse">
            <a:avLst/>
          </a:prstGeom>
          <a:solidFill>
            <a:srgbClr val="C8BFB5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754380"/>
            <a:ext cx="960120" cy="576072"/>
          </a:xfrm>
          <a:prstGeom prst="ellipse">
            <a:avLst/>
          </a:prstGeom>
          <a:solidFill>
            <a:srgbClr val="C8BFB5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7592" y="658368"/>
            <a:ext cx="850392" cy="548640"/>
          </a:xfrm>
          <a:prstGeom prst="ellipse">
            <a:avLst/>
          </a:prstGeom>
          <a:solidFill>
            <a:srgbClr val="C8BFB5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617220"/>
            <a:ext cx="822960" cy="521208"/>
          </a:xfrm>
          <a:prstGeom prst="ellipse">
            <a:avLst/>
          </a:prstGeom>
          <a:solidFill>
            <a:srgbClr val="C8BFB5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0" y="3474720"/>
            <a:ext cx="987552" cy="658368"/>
          </a:xfrm>
          <a:prstGeom prst="ellipse">
            <a:avLst/>
          </a:prstGeom>
          <a:solidFill>
            <a:srgbClr val="C8BFB5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06640" y="3584448"/>
            <a:ext cx="877824" cy="603504"/>
          </a:xfrm>
          <a:prstGeom prst="ellipse">
            <a:avLst/>
          </a:prstGeom>
          <a:solidFill>
            <a:srgbClr val="C8BFB5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00416" y="3474720"/>
            <a:ext cx="822960" cy="548640"/>
          </a:xfrm>
          <a:prstGeom prst="ellipse">
            <a:avLst/>
          </a:prstGeom>
          <a:solidFill>
            <a:srgbClr val="C8BFB5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77456" y="3803904"/>
            <a:ext cx="877824" cy="603504"/>
          </a:xfrm>
          <a:prstGeom prst="ellipse">
            <a:avLst/>
          </a:prstGeom>
          <a:solidFill>
            <a:srgbClr val="C8BFB5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71232" y="3781958"/>
            <a:ext cx="768096" cy="526694"/>
          </a:xfrm>
          <a:prstGeom prst="ellipse">
            <a:avLst/>
          </a:prstGeom>
          <a:solidFill>
            <a:srgbClr val="C8BFB5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65008" y="3694176"/>
            <a:ext cx="713232" cy="493776"/>
          </a:xfrm>
          <a:prstGeom prst="ellipse">
            <a:avLst/>
          </a:prstGeom>
          <a:solidFill>
            <a:srgbClr val="C8BFB5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74966" y="4078224"/>
            <a:ext cx="768096" cy="460858"/>
          </a:xfrm>
          <a:prstGeom prst="ellipse">
            <a:avLst/>
          </a:prstGeom>
          <a:solidFill>
            <a:srgbClr val="C8BFB5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57770" y="4001414"/>
            <a:ext cx="680314" cy="438912"/>
          </a:xfrm>
          <a:prstGeom prst="ellipse">
            <a:avLst/>
          </a:prstGeom>
          <a:solidFill>
            <a:srgbClr val="C8BFB5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74736" y="3968496"/>
            <a:ext cx="658368" cy="416966"/>
          </a:xfrm>
          <a:prstGeom prst="ellipse">
            <a:avLst/>
          </a:prstGeom>
          <a:solidFill>
            <a:srgbClr val="C8BFB5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0" y="-274320"/>
            <a:ext cx="1645920" cy="1645920"/>
          </a:xfrm>
          <a:prstGeom prst="ellipse">
            <a:avLst/>
          </a:prstGeom>
          <a:solidFill>
            <a:srgbClr val="CC1515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10972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a Timeline Page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828800" y="6400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</a:rPr>
              <a:t>Full Tech Stack — Tools · Purpose · License · Status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2176272"/>
            <a:ext cx="7863840" cy="0"/>
          </a:xfrm>
          <a:prstGeom prst="line">
            <a:avLst/>
          </a:prstGeom>
          <a:noFill/>
          <a:ln w="19050">
            <a:solidFill>
              <a:srgbClr val="D8D0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1005840"/>
            <a:ext cx="365760" cy="384048"/>
          </a:xfrm>
          <a:prstGeom prst="ellipse">
            <a:avLst/>
          </a:prstGeom>
          <a:solidFill>
            <a:srgbClr val="1B8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9536" y="1371600"/>
            <a:ext cx="109728" cy="502920"/>
          </a:xfrm>
          <a:prstGeom prst="rect">
            <a:avLst/>
          </a:prstGeom>
          <a:solidFill>
            <a:srgbClr val="1B8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1481328"/>
            <a:ext cx="457200" cy="73152"/>
          </a:xfrm>
          <a:prstGeom prst="rect">
            <a:avLst/>
          </a:prstGeom>
          <a:solidFill>
            <a:srgbClr val="1B8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2688" y="1170432"/>
            <a:ext cx="0" cy="777240"/>
          </a:xfrm>
          <a:prstGeom prst="line">
            <a:avLst/>
          </a:prstGeom>
          <a:noFill/>
          <a:ln w="25400">
            <a:solidFill>
              <a:srgbClr val="1B8A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1463040"/>
            <a:ext cx="128016" cy="45720"/>
          </a:xfrm>
          <a:prstGeom prst="rect">
            <a:avLst/>
          </a:prstGeom>
          <a:solidFill>
            <a:srgbClr val="1B8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1920240"/>
            <a:ext cx="512064" cy="512064"/>
          </a:xfrm>
          <a:prstGeom prst="ellipse">
            <a:avLst/>
          </a:prstGeom>
          <a:solidFill>
            <a:srgbClr val="1B8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" y="203911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487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Whisper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27614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8A8A"/>
                </a:solidFill>
              </a:rPr>
              <a:t>STT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68680" y="3017520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27AE60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30175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6B3A"/>
                </a:solidFill>
              </a:rPr>
              <a:t>FREE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423160" y="1005840"/>
            <a:ext cx="365760" cy="384048"/>
          </a:xfrm>
          <a:prstGeom prst="ellipse">
            <a:avLst/>
          </a:prstGeom>
          <a:solidFill>
            <a:srgbClr val="D482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51176" y="1371600"/>
            <a:ext cx="109728" cy="502920"/>
          </a:xfrm>
          <a:prstGeom prst="rect">
            <a:avLst/>
          </a:prstGeom>
          <a:solidFill>
            <a:srgbClr val="D482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77440" y="1481328"/>
            <a:ext cx="457200" cy="73152"/>
          </a:xfrm>
          <a:prstGeom prst="rect">
            <a:avLst/>
          </a:prstGeom>
          <a:solidFill>
            <a:srgbClr val="D482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624328" y="1170432"/>
            <a:ext cx="0" cy="777240"/>
          </a:xfrm>
          <a:prstGeom prst="line">
            <a:avLst/>
          </a:prstGeom>
          <a:noFill/>
          <a:ln w="25400">
            <a:solidFill>
              <a:srgbClr val="D4821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9464" y="1463040"/>
            <a:ext cx="128016" cy="45720"/>
          </a:xfrm>
          <a:prstGeom prst="rect">
            <a:avLst/>
          </a:prstGeom>
          <a:solidFill>
            <a:srgbClr val="D482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1920240"/>
            <a:ext cx="512064" cy="512064"/>
          </a:xfrm>
          <a:prstGeom prst="ellipse">
            <a:avLst/>
          </a:prstGeom>
          <a:solidFill>
            <a:srgbClr val="D482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50592" y="203911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48840" y="2487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YOLO-World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148840" y="27614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821A"/>
                </a:solidFill>
              </a:rPr>
              <a:t>Detection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60320" y="3017520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27AE60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60320" y="30175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6B3A"/>
                </a:solidFill>
              </a:rPr>
              <a:t>FREE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114800" y="1005840"/>
            <a:ext cx="365760" cy="384048"/>
          </a:xfrm>
          <a:prstGeom prst="ellipse">
            <a:avLst/>
          </a:prstGeom>
          <a:solidFill>
            <a:srgbClr val="2980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42816" y="1371600"/>
            <a:ext cx="109728" cy="502920"/>
          </a:xfrm>
          <a:prstGeom prst="rect">
            <a:avLst/>
          </a:prstGeom>
          <a:solidFill>
            <a:srgbClr val="2980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069080" y="1481328"/>
            <a:ext cx="457200" cy="73152"/>
          </a:xfrm>
          <a:prstGeom prst="rect">
            <a:avLst/>
          </a:prstGeom>
          <a:solidFill>
            <a:srgbClr val="2980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315968" y="1170432"/>
            <a:ext cx="0" cy="777240"/>
          </a:xfrm>
          <a:prstGeom prst="line">
            <a:avLst/>
          </a:prstGeom>
          <a:noFill/>
          <a:ln w="25400">
            <a:solidFill>
              <a:srgbClr val="2980B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61104" y="1463040"/>
            <a:ext cx="128016" cy="45720"/>
          </a:xfrm>
          <a:prstGeom prst="rect">
            <a:avLst/>
          </a:prstGeom>
          <a:solidFill>
            <a:srgbClr val="2980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023360" y="1920240"/>
            <a:ext cx="512064" cy="512064"/>
          </a:xfrm>
          <a:prstGeom prst="ellipse">
            <a:avLst/>
          </a:prstGeom>
          <a:solidFill>
            <a:srgbClr val="2980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42232" y="203911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840480" y="2487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MiDaS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840480" y="27614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980B9"/>
                </a:solidFill>
              </a:rPr>
              <a:t>Depth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251960" y="3017520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27AE60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51960" y="30175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6B3A"/>
                </a:solidFill>
              </a:rPr>
              <a:t>FREE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806440" y="1005840"/>
            <a:ext cx="365760" cy="384048"/>
          </a:xfrm>
          <a:prstGeom prst="ellipse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934456" y="1371600"/>
            <a:ext cx="109728" cy="502920"/>
          </a:xfrm>
          <a:prstGeom prst="rect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760720" y="1481328"/>
            <a:ext cx="457200" cy="73152"/>
          </a:xfrm>
          <a:prstGeom prst="rect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007608" y="1170432"/>
            <a:ext cx="0" cy="777240"/>
          </a:xfrm>
          <a:prstGeom prst="line">
            <a:avLst/>
          </a:prstGeom>
          <a:noFill/>
          <a:ln w="25400">
            <a:solidFill>
              <a:srgbClr val="CC151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952744" y="1463040"/>
            <a:ext cx="128016" cy="45720"/>
          </a:xfrm>
          <a:prstGeom prst="rect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715000" y="1920240"/>
            <a:ext cx="512064" cy="512064"/>
          </a:xfrm>
          <a:prstGeom prst="ellipse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833872" y="203911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532120" y="2487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Groq API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532120" y="27614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1515"/>
                </a:solidFill>
              </a:rPr>
              <a:t>LLM Agent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943600" y="3017520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27AE60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943600" y="30175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6B3A"/>
                </a:solidFill>
              </a:rPr>
              <a:t>FREE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7498080" y="1005840"/>
            <a:ext cx="365760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626096" y="1371600"/>
            <a:ext cx="109728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452360" y="1481328"/>
            <a:ext cx="45720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699248" y="1170432"/>
            <a:ext cx="0" cy="77724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644384" y="1463040"/>
            <a:ext cx="128016" cy="45720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406640" y="1920240"/>
            <a:ext cx="512064" cy="51206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525512" y="203911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223760" y="2487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pyttsx3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7223760" y="27614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AE60"/>
                </a:solidFill>
              </a:rPr>
              <a:t>TTS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7635240" y="3017520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27AE60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635240" y="30175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6B3A"/>
                </a:solidFill>
              </a:rPr>
              <a:t>FREE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457200" y="3383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Additional Stack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1371600" y="3703320"/>
            <a:ext cx="2103120" cy="713232"/>
          </a:xfrm>
          <a:prstGeom prst="rect">
            <a:avLst/>
          </a:prstGeom>
          <a:solidFill>
            <a:srgbClr val="1B8A8A">
              <a:alpha val="12000"/>
            </a:srgbClr>
          </a:solidFill>
          <a:ln w="10160">
            <a:solidFill>
              <a:srgbClr val="1B8A8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371600" y="3703320"/>
            <a:ext cx="45720" cy="713232"/>
          </a:xfrm>
          <a:prstGeom prst="rect">
            <a:avLst/>
          </a:prstGeom>
          <a:solidFill>
            <a:srgbClr val="1B8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481328" y="3749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Flask+Socket.IO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1481328" y="40507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8A8A"/>
                </a:solidFill>
              </a:rPr>
              <a:t>Web HUD · FREE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3840480" y="3703320"/>
            <a:ext cx="2103120" cy="713232"/>
          </a:xfrm>
          <a:prstGeom prst="rect">
            <a:avLst/>
          </a:prstGeom>
          <a:solidFill>
            <a:srgbClr val="CC1515">
              <a:alpha val="12000"/>
            </a:srgbClr>
          </a:solidFill>
          <a:ln w="10160">
            <a:solidFill>
              <a:srgbClr val="CC151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840480" y="3703320"/>
            <a:ext cx="45720" cy="713232"/>
          </a:xfrm>
          <a:prstGeom prst="rect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950208" y="3749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NumPy/SciPy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3950208" y="40507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1515"/>
                </a:solidFill>
              </a:rPr>
              <a:t>Quant Math · FREE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6309360" y="3703320"/>
            <a:ext cx="2103120" cy="713232"/>
          </a:xfrm>
          <a:prstGeom prst="rect">
            <a:avLst/>
          </a:prstGeom>
          <a:solidFill>
            <a:srgbClr val="7B4FA0">
              <a:alpha val="12000"/>
            </a:srgbClr>
          </a:solidFill>
          <a:ln w="10160">
            <a:solidFill>
              <a:srgbClr val="7B4FA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309360" y="3703320"/>
            <a:ext cx="45720" cy="713232"/>
          </a:xfrm>
          <a:prstGeom prst="rect">
            <a:avLst/>
          </a:prstGeom>
          <a:solidFill>
            <a:srgbClr val="7B4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419088" y="3749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OpenCV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6419088" y="40507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4FA0"/>
                </a:solidFill>
              </a:rPr>
              <a:t>Camera · FREE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274320"/>
            <a:ext cx="1810512" cy="1207008"/>
          </a:xfrm>
          <a:prstGeom prst="ellipse">
            <a:avLst/>
          </a:prstGeom>
          <a:solidFill>
            <a:srgbClr val="1A1A1A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73152"/>
            <a:ext cx="1609344" cy="1106424"/>
          </a:xfrm>
          <a:prstGeom prst="ellipse">
            <a:avLst/>
          </a:prstGeom>
          <a:solidFill>
            <a:srgbClr val="1A1A1A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69096" y="-274320"/>
            <a:ext cx="1508760" cy="1005840"/>
          </a:xfrm>
          <a:prstGeom prst="ellipse">
            <a:avLst/>
          </a:prstGeom>
          <a:solidFill>
            <a:srgbClr val="1A1A1A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60336" y="329184"/>
            <a:ext cx="1609344" cy="1106424"/>
          </a:xfrm>
          <a:prstGeom prst="ellipse">
            <a:avLst/>
          </a:prstGeom>
          <a:solidFill>
            <a:srgbClr val="1A1A1A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65592" y="288950"/>
            <a:ext cx="1408176" cy="965606"/>
          </a:xfrm>
          <a:prstGeom prst="ellipse">
            <a:avLst/>
          </a:prstGeom>
          <a:solidFill>
            <a:srgbClr val="1A1A1A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70848" y="128016"/>
            <a:ext cx="1307592" cy="905256"/>
          </a:xfrm>
          <a:prstGeom prst="ellipse">
            <a:avLst/>
          </a:prstGeom>
          <a:solidFill>
            <a:srgbClr val="1A1A1A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22438" y="832104"/>
            <a:ext cx="1408176" cy="844906"/>
          </a:xfrm>
          <a:prstGeom prst="ellipse">
            <a:avLst/>
          </a:prstGeom>
          <a:solidFill>
            <a:srgbClr val="1A1A1A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7578" y="691286"/>
            <a:ext cx="1247242" cy="804672"/>
          </a:xfrm>
          <a:prstGeom prst="ellipse">
            <a:avLst/>
          </a:prstGeom>
          <a:solidFill>
            <a:srgbClr val="1A1A1A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72016" y="630936"/>
            <a:ext cx="1207008" cy="764438"/>
          </a:xfrm>
          <a:prstGeom prst="ellipse">
            <a:avLst/>
          </a:prstGeom>
          <a:solidFill>
            <a:srgbClr val="1A1A1A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HUD Interface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</a:rPr>
              <a:t>Animate-Styled Real-Time Web Dashboard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005840"/>
            <a:ext cx="5303520" cy="3520440"/>
          </a:xfrm>
          <a:prstGeom prst="rect">
            <a:avLst/>
          </a:prstGeom>
          <a:solidFill>
            <a:srgbClr val="0D1117"/>
          </a:solidFill>
          <a:ln w="19050">
            <a:solidFill>
              <a:srgbClr val="1B8A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005840"/>
            <a:ext cx="530352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02412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1B8A8A"/>
                </a:solidFill>
              </a:rPr>
              <a:t>視覚  HIKARI SHINRO AI  ·  LIVE FEED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1435608"/>
            <a:ext cx="5120640" cy="2487168"/>
          </a:xfrm>
          <a:prstGeom prst="rect">
            <a:avLst/>
          </a:prstGeom>
          <a:solidFill>
            <a:srgbClr val="1A2A3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1645920"/>
            <a:ext cx="1280160" cy="18288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1B8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15819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8A8A"/>
                </a:solidFill>
              </a:rPr>
              <a:t>DOOR 1.8m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91840" y="2011680"/>
            <a:ext cx="914400" cy="82296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F0A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19476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A020"/>
                </a:solidFill>
              </a:rPr>
              <a:t>CHAIR 0.9m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463040" y="3383280"/>
            <a:ext cx="164592" cy="164592"/>
          </a:xfrm>
          <a:prstGeom prst="ellipse">
            <a:avLst/>
          </a:prstGeom>
          <a:solidFill>
            <a:srgbClr val="27AE60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00784" y="3218688"/>
            <a:ext cx="164592" cy="164592"/>
          </a:xfrm>
          <a:prstGeom prst="ellipse">
            <a:avLst/>
          </a:prstGeom>
          <a:solidFill>
            <a:srgbClr val="27AE60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38528" y="3054096"/>
            <a:ext cx="164592" cy="164592"/>
          </a:xfrm>
          <a:prstGeom prst="ellipse">
            <a:avLst/>
          </a:prstGeom>
          <a:solidFill>
            <a:srgbClr val="27AE60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76272" y="2889504"/>
            <a:ext cx="164592" cy="164592"/>
          </a:xfrm>
          <a:prstGeom prst="ellipse">
            <a:avLst/>
          </a:prstGeom>
          <a:solidFill>
            <a:srgbClr val="27AE60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14016" y="2724912"/>
            <a:ext cx="164592" cy="164592"/>
          </a:xfrm>
          <a:prstGeom prst="ellipse">
            <a:avLst/>
          </a:prstGeom>
          <a:solidFill>
            <a:srgbClr val="27AE60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51760" y="2560320"/>
            <a:ext cx="164592" cy="164592"/>
          </a:xfrm>
          <a:prstGeom prst="ellipse">
            <a:avLst/>
          </a:prstGeom>
          <a:solidFill>
            <a:srgbClr val="27AE60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365760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7AE60"/>
                </a:solidFill>
              </a:rPr>
              <a:t>A* PATH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74320" y="4279392"/>
            <a:ext cx="5303520" cy="246888"/>
          </a:xfrm>
          <a:prstGeom prst="rect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29768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AGENT: Door 1.8m ahead — move slightly left to avoid chair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760720" y="10515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217920" y="1097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Live YOLO bounding boxes + distance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760720" y="158191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🌊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17920" y="1627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Depth heat-map overlay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760720" y="211226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🟢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17920" y="215798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A* safe path on camera feed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760720" y="264261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📡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217920" y="268833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Kalman tracking trails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760720" y="317296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🗣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217920" y="32186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Agent guidance as subtitle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760720" y="37033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217920" y="3749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Any browser, localhost:5000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A0E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0" y="274320"/>
            <a:ext cx="1828800" cy="1828800"/>
          </a:xfrm>
          <a:prstGeom prst="ellipse">
            <a:avLst/>
          </a:prstGeom>
          <a:solidFill>
            <a:srgbClr val="2A1A1A"/>
          </a:solidFill>
          <a:ln w="19050">
            <a:solidFill>
              <a:srgbClr val="CC151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2057400"/>
            <a:ext cx="1051560" cy="22860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2194560"/>
            <a:ext cx="251460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2011680"/>
            <a:ext cx="2377440" cy="2560320"/>
          </a:xfrm>
          <a:prstGeom prst="roundRect">
            <a:avLst>
              <a:gd name="adj" fmla="val 7692"/>
            </a:avLst>
          </a:prstGeom>
          <a:solidFill>
            <a:srgbClr val="151515"/>
          </a:solidFill>
          <a:ln w="1016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548640"/>
            <a:ext cx="0" cy="3200400"/>
          </a:xfrm>
          <a:prstGeom prst="line">
            <a:avLst/>
          </a:prstGeom>
          <a:noFill/>
          <a:ln w="19050">
            <a:solidFill>
              <a:srgbClr val="CC1515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114800"/>
            <a:ext cx="3291840" cy="457200"/>
          </a:xfrm>
          <a:prstGeom prst="ellipse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4114800"/>
            <a:ext cx="3291840" cy="457200"/>
          </a:xfrm>
          <a:prstGeom prst="ellipse">
            <a:avLst/>
          </a:prstGeom>
          <a:solidFill>
            <a:srgbClr val="CC1515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2743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C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5303520" y="91440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Infinite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possibilities.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303520" y="35661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</a:rPr>
              <a:t>Hikari Shinro AI detects any object,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</a:rPr>
              <a:t>calculates any distance, plans any path —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</a:rPr>
              <a:t>all from a single spoken goal.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0" y="3474720"/>
            <a:ext cx="3200400" cy="0"/>
          </a:xfrm>
          <a:prstGeom prst="line">
            <a:avLst/>
          </a:prstGeom>
          <a:noFill/>
          <a:ln w="10160">
            <a:solidFill>
              <a:srgbClr val="CC1515">
                <a:alpha val="6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" y="-228600"/>
            <a:ext cx="2057400" cy="1371600"/>
          </a:xfrm>
          <a:prstGeom prst="ellipse">
            <a:avLst/>
          </a:prstGeom>
          <a:solidFill>
            <a:srgbClr val="BFBAB2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" y="0"/>
            <a:ext cx="1828800" cy="1257300"/>
          </a:xfrm>
          <a:prstGeom prst="ellipse">
            <a:avLst/>
          </a:prstGeom>
          <a:solidFill>
            <a:srgbClr val="BFBAB2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88820" y="-228600"/>
            <a:ext cx="1714500" cy="1143000"/>
          </a:xfrm>
          <a:prstGeom prst="ellipse">
            <a:avLst/>
          </a:prstGeom>
          <a:solidFill>
            <a:srgbClr val="BFBAB2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457200"/>
            <a:ext cx="1828800" cy="1257300"/>
          </a:xfrm>
          <a:prstGeom prst="ellipse">
            <a:avLst/>
          </a:prstGeom>
          <a:solidFill>
            <a:srgbClr val="BFBAB2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03020" y="411480"/>
            <a:ext cx="1600200" cy="1097280"/>
          </a:xfrm>
          <a:prstGeom prst="ellipse">
            <a:avLst/>
          </a:prstGeom>
          <a:solidFill>
            <a:srgbClr val="BFBAB2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228600"/>
            <a:ext cx="1485900" cy="1028700"/>
          </a:xfrm>
          <a:prstGeom prst="ellipse">
            <a:avLst/>
          </a:prstGeom>
          <a:solidFill>
            <a:srgbClr val="BFBAB2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28700"/>
            <a:ext cx="1600200" cy="960120"/>
          </a:xfrm>
          <a:prstGeom prst="ellipse">
            <a:avLst/>
          </a:prstGeom>
          <a:solidFill>
            <a:srgbClr val="BFBAB2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91640" y="868680"/>
            <a:ext cx="1417320" cy="914400"/>
          </a:xfrm>
          <a:prstGeom prst="ellipse">
            <a:avLst/>
          </a:prstGeom>
          <a:solidFill>
            <a:srgbClr val="BFBAB2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800100"/>
            <a:ext cx="1371600" cy="868680"/>
          </a:xfrm>
          <a:prstGeom prst="ellipse">
            <a:avLst/>
          </a:prstGeom>
          <a:solidFill>
            <a:srgbClr val="BFBAB2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0" y="-457200"/>
            <a:ext cx="3474720" cy="3474720"/>
          </a:xfrm>
          <a:prstGeom prst="ellipse">
            <a:avLst/>
          </a:prstGeom>
          <a:solidFill>
            <a:srgbClr val="CC1515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-91440"/>
            <a:ext cx="2743200" cy="2743200"/>
          </a:xfrm>
          <a:prstGeom prst="ellipse">
            <a:avLst/>
          </a:prstGeom>
          <a:solidFill>
            <a:srgbClr val="8B0000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320040"/>
            <a:ext cx="365760" cy="365760"/>
          </a:xfrm>
          <a:prstGeom prst="ellipse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5603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C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Projects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7200" y="77724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6 reasons Hikari Shinro AI wins CodeRonin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1143000"/>
            <a:ext cx="4206240" cy="1051560"/>
          </a:xfrm>
          <a:prstGeom prst="rect">
            <a:avLst/>
          </a:prstGeom>
          <a:solidFill>
            <a:srgbClr val="CC1515">
              <a:alpha val="8000"/>
            </a:srgbClr>
          </a:solidFill>
          <a:ln w="10160">
            <a:solidFill>
              <a:srgbClr val="CC151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1143000"/>
            <a:ext cx="45720" cy="1051560"/>
          </a:xfrm>
          <a:prstGeom prst="rect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1444752"/>
            <a:ext cx="384048" cy="384048"/>
          </a:xfrm>
          <a:prstGeom prst="ellipse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12344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Zero-Shot Detection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152704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YOLO-World detects ANY object by text — directly satisfies PS1. Most teams skip this.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1143000"/>
            <a:ext cx="4206240" cy="1051560"/>
          </a:xfrm>
          <a:prstGeom prst="rect">
            <a:avLst/>
          </a:prstGeom>
          <a:solidFill>
            <a:srgbClr val="1B8A8A">
              <a:alpha val="8000"/>
            </a:srgbClr>
          </a:solidFill>
          <a:ln w="10160">
            <a:solidFill>
              <a:srgbClr val="1B8A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1143000"/>
            <a:ext cx="45720" cy="1051560"/>
          </a:xfrm>
          <a:prstGeom prst="rect">
            <a:avLst/>
          </a:prstGeom>
          <a:solidFill>
            <a:srgbClr val="1B8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47488" y="1444752"/>
            <a:ext cx="384048" cy="384048"/>
          </a:xfrm>
          <a:prstGeom prst="ellipse">
            <a:avLst/>
          </a:prstGeom>
          <a:solidFill>
            <a:srgbClr val="1B8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32120" y="12344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Explicit Quant Layer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32120" y="152704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4 visible math algorithms lock in Quant×AI theme. Judges see the math live on the HUD.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2377440"/>
            <a:ext cx="4206240" cy="1051560"/>
          </a:xfrm>
          <a:prstGeom prst="rect">
            <a:avLst/>
          </a:prstGeom>
          <a:solidFill>
            <a:srgbClr val="D4821A">
              <a:alpha val="8000"/>
            </a:srgbClr>
          </a:solidFill>
          <a:ln w="10160">
            <a:solidFill>
              <a:srgbClr val="D482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2377440"/>
            <a:ext cx="45720" cy="1051560"/>
          </a:xfrm>
          <a:prstGeom prst="rect">
            <a:avLst/>
          </a:prstGeom>
          <a:solidFill>
            <a:srgbClr val="D482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" y="2679192"/>
            <a:ext cx="384048" cy="384048"/>
          </a:xfrm>
          <a:prstGeom prst="ellipse">
            <a:avLst/>
          </a:prstGeom>
          <a:solidFill>
            <a:srgbClr val="D482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60120" y="2468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Genuine Agentic Loop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60120" y="276148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LLM replans every frame without re-prompting. Real agentic behaviour, not a one-shot call.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37760" y="2377440"/>
            <a:ext cx="4206240" cy="1051560"/>
          </a:xfrm>
          <a:prstGeom prst="rect">
            <a:avLst/>
          </a:prstGeom>
          <a:solidFill>
            <a:srgbClr val="7B4FA0">
              <a:alpha val="8000"/>
            </a:srgbClr>
          </a:solidFill>
          <a:ln w="10160">
            <a:solidFill>
              <a:srgbClr val="7B4FA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37760" y="2377440"/>
            <a:ext cx="45720" cy="1051560"/>
          </a:xfrm>
          <a:prstGeom prst="rect">
            <a:avLst/>
          </a:prstGeom>
          <a:solidFill>
            <a:srgbClr val="7B4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47488" y="2679192"/>
            <a:ext cx="384048" cy="384048"/>
          </a:xfrm>
          <a:prstGeom prst="ellipse">
            <a:avLst/>
          </a:prstGeom>
          <a:solidFill>
            <a:srgbClr val="7B4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47488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32120" y="2468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Dual Output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532120" y="276148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Spoken audio for the user + visual HUD for caregivers simultaneously from one pipeline.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3611880"/>
            <a:ext cx="4206240" cy="1051560"/>
          </a:xfrm>
          <a:prstGeom prst="rect">
            <a:avLst/>
          </a:prstGeom>
          <a:solidFill>
            <a:srgbClr val="27AE60">
              <a:alpha val="8000"/>
            </a:srgbClr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3611880"/>
            <a:ext cx="45720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" y="3913632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60120" y="37033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Zero Cost Stack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60120" y="399592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₹0 total. Runs offline. Works even if venue internet drops. Resilient &amp; practical.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937760" y="3611880"/>
            <a:ext cx="4206240" cy="1051560"/>
          </a:xfrm>
          <a:prstGeom prst="rect">
            <a:avLst/>
          </a:prstGeom>
          <a:solidFill>
            <a:srgbClr val="CC1515">
              <a:alpha val="8000"/>
            </a:srgbClr>
          </a:solidFill>
          <a:ln w="10160">
            <a:solidFill>
              <a:srgbClr val="CC151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37760" y="3611880"/>
            <a:ext cx="45720" cy="1051560"/>
          </a:xfrm>
          <a:prstGeom prst="rect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47488" y="3913632"/>
            <a:ext cx="384048" cy="384048"/>
          </a:xfrm>
          <a:prstGeom prst="ellipse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47488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532120" y="37033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Social Impact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532120" y="399592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285M+ visually impaired globally. Strong accessibility story resonates with every judge.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" y="2743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C0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視覚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686800" y="2743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C0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光明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-45720" y="11887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C0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視覚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0" y="11887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C0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光明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-45720" y="21031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C0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視覚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0" y="21031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C0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光明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-45720" y="30175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C0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視覚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0" y="30175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C0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光明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-45720" y="39319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C0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視覚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0" y="39319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C0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光明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12700">
            <a:solidFill>
              <a:srgbClr val="D8D0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95360" y="0"/>
            <a:ext cx="0" cy="5143500"/>
          </a:xfrm>
          <a:prstGeom prst="line">
            <a:avLst/>
          </a:prstGeom>
          <a:noFill/>
          <a:ln w="12700">
            <a:solidFill>
              <a:srgbClr val="D8D0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164592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Research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71600" y="71323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</a:rPr>
              <a:t>The scale of the problem — and why Hikari Shinro AI matters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8680" y="1078992"/>
            <a:ext cx="1554480" cy="1554480"/>
          </a:xfrm>
          <a:prstGeom prst="ellipse">
            <a:avLst/>
          </a:prstGeom>
          <a:solidFill>
            <a:srgbClr val="CC1515">
              <a:alpha val="18000"/>
            </a:srgbClr>
          </a:solidFill>
          <a:ln w="31750">
            <a:solidFill>
              <a:srgbClr val="CC151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06424" y="1316736"/>
            <a:ext cx="1078992" cy="1078992"/>
          </a:xfrm>
          <a:prstGeom prst="ellipse">
            <a:avLst/>
          </a:prstGeom>
          <a:solidFill>
            <a:srgbClr val="F8F5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06424" y="1316736"/>
            <a:ext cx="10789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285M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5800" y="2697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Visually Impaired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People Worldwide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31821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WHO 2023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880360" y="1078992"/>
            <a:ext cx="1554480" cy="1554480"/>
          </a:xfrm>
          <a:prstGeom prst="ellipse">
            <a:avLst/>
          </a:prstGeom>
          <a:solidFill>
            <a:srgbClr val="1B8A8A">
              <a:alpha val="18000"/>
            </a:srgbClr>
          </a:solidFill>
          <a:ln w="31750">
            <a:solidFill>
              <a:srgbClr val="1B8A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18104" y="1316736"/>
            <a:ext cx="1078992" cy="1078992"/>
          </a:xfrm>
          <a:prstGeom prst="ellipse">
            <a:avLst/>
          </a:prstGeom>
          <a:solidFill>
            <a:srgbClr val="F8F5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18104" y="1316736"/>
            <a:ext cx="10789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43M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697480" y="2697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Completely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Blind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97480" y="31821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WHO 2023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92040" y="1078992"/>
            <a:ext cx="1554480" cy="1554480"/>
          </a:xfrm>
          <a:prstGeom prst="ellipse">
            <a:avLst/>
          </a:prstGeom>
          <a:solidFill>
            <a:srgbClr val="D4821A">
              <a:alpha val="18000"/>
            </a:srgbClr>
          </a:solidFill>
          <a:ln w="31750">
            <a:solidFill>
              <a:srgbClr val="D482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29784" y="1316736"/>
            <a:ext cx="1078992" cy="1078992"/>
          </a:xfrm>
          <a:prstGeom prst="ellipse">
            <a:avLst/>
          </a:prstGeom>
          <a:solidFill>
            <a:srgbClr val="F8F5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9784" y="1316736"/>
            <a:ext cx="10789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8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709160" y="2697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Live in Low-Income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Countries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09160" y="31821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WHO estimate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903720" y="1078992"/>
            <a:ext cx="1554480" cy="1554480"/>
          </a:xfrm>
          <a:prstGeom prst="ellipse">
            <a:avLst/>
          </a:prstGeom>
          <a:solidFill>
            <a:srgbClr val="27AE60">
              <a:alpha val="18000"/>
            </a:srgbClr>
          </a:solidFill>
          <a:ln w="31750">
            <a:solidFill>
              <a:srgbClr val="27AE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41464" y="1316736"/>
            <a:ext cx="1078992" cy="1078992"/>
          </a:xfrm>
          <a:prstGeom prst="ellipse">
            <a:avLst/>
          </a:prstGeom>
          <a:solidFill>
            <a:srgbClr val="F8F5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41464" y="1316736"/>
            <a:ext cx="10789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₹0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720840" y="2697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Our Complete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Tech Stack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20840" y="31821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All FREE tools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77240" y="3493008"/>
            <a:ext cx="274320" cy="274320"/>
          </a:xfrm>
          <a:prstGeom prst="ellipse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43000" y="3493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Feasibility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2960" y="380390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Runs on any laptop with webcam — zero hardware cost. Deploy immediately.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29000" y="3493008"/>
            <a:ext cx="274320" cy="274320"/>
          </a:xfrm>
          <a:prstGeom prst="ellipse">
            <a:avLst/>
          </a:prstGeom>
          <a:solidFill>
            <a:srgbClr val="1B8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94760" y="3493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Scalability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474720" y="380390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New environments (hospital/school) via text labels — no retraining ever.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080760" y="3493008"/>
            <a:ext cx="274320" cy="274320"/>
          </a:xfrm>
          <a:prstGeom prst="ellipse">
            <a:avLst/>
          </a:prstGeom>
          <a:solidFill>
            <a:srgbClr val="D482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46520" y="3493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Impact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26480" y="380390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Real independence + safety for 285M+ people. The strongest possible story.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" y="-274320"/>
            <a:ext cx="1810512" cy="1207008"/>
          </a:xfrm>
          <a:prstGeom prst="ellipse">
            <a:avLst/>
          </a:prstGeom>
          <a:solidFill>
            <a:srgbClr val="1A1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-73152"/>
            <a:ext cx="1609344" cy="1106424"/>
          </a:xfrm>
          <a:prstGeom prst="ellipse">
            <a:avLst/>
          </a:prstGeom>
          <a:solidFill>
            <a:srgbClr val="1A1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28216" y="-274320"/>
            <a:ext cx="1508760" cy="1005840"/>
          </a:xfrm>
          <a:prstGeom prst="ellipse">
            <a:avLst/>
          </a:prstGeom>
          <a:solidFill>
            <a:srgbClr val="1A1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" y="329184"/>
            <a:ext cx="1609344" cy="1106424"/>
          </a:xfrm>
          <a:prstGeom prst="ellipse">
            <a:avLst/>
          </a:prstGeom>
          <a:solidFill>
            <a:srgbClr val="1A1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4712" y="288950"/>
            <a:ext cx="1408176" cy="965606"/>
          </a:xfrm>
          <a:prstGeom prst="ellipse">
            <a:avLst/>
          </a:prstGeom>
          <a:solidFill>
            <a:srgbClr val="1A1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29968" y="128016"/>
            <a:ext cx="1307592" cy="905256"/>
          </a:xfrm>
          <a:prstGeom prst="ellipse">
            <a:avLst/>
          </a:prstGeom>
          <a:solidFill>
            <a:srgbClr val="1A1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1558" y="832104"/>
            <a:ext cx="1408176" cy="844906"/>
          </a:xfrm>
          <a:prstGeom prst="ellipse">
            <a:avLst/>
          </a:prstGeom>
          <a:solidFill>
            <a:srgbClr val="1A1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6698" y="691286"/>
            <a:ext cx="1247242" cy="804672"/>
          </a:xfrm>
          <a:prstGeom prst="ellipse">
            <a:avLst/>
          </a:prstGeom>
          <a:solidFill>
            <a:srgbClr val="1A1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31136" y="630936"/>
            <a:ext cx="1207008" cy="764438"/>
          </a:xfrm>
          <a:prstGeom prst="ellipse">
            <a:avLst/>
          </a:prstGeom>
          <a:solidFill>
            <a:srgbClr val="1A1A1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0" y="3200400"/>
            <a:ext cx="1316736" cy="877824"/>
          </a:xfrm>
          <a:prstGeom prst="ellipse">
            <a:avLst/>
          </a:prstGeom>
          <a:solidFill>
            <a:srgbClr val="1A1A1A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3346704"/>
            <a:ext cx="1170432" cy="804672"/>
          </a:xfrm>
          <a:prstGeom prst="ellipse">
            <a:avLst/>
          </a:prstGeom>
          <a:solidFill>
            <a:srgbClr val="1A1A1A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22208" y="3200400"/>
            <a:ext cx="1097280" cy="731520"/>
          </a:xfrm>
          <a:prstGeom prst="ellipse">
            <a:avLst/>
          </a:prstGeom>
          <a:solidFill>
            <a:srgbClr val="1A1A1A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24928" y="3639312"/>
            <a:ext cx="1170432" cy="804672"/>
          </a:xfrm>
          <a:prstGeom prst="ellipse">
            <a:avLst/>
          </a:prstGeom>
          <a:solidFill>
            <a:srgbClr val="1A1A1A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83296" y="3610051"/>
            <a:ext cx="1024128" cy="702259"/>
          </a:xfrm>
          <a:prstGeom prst="ellipse">
            <a:avLst/>
          </a:prstGeom>
          <a:solidFill>
            <a:srgbClr val="1A1A1A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41664" y="3493008"/>
            <a:ext cx="950976" cy="658368"/>
          </a:xfrm>
          <a:prstGeom prst="ellipse">
            <a:avLst/>
          </a:prstGeom>
          <a:solidFill>
            <a:srgbClr val="1A1A1A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8275" y="4005072"/>
            <a:ext cx="1024128" cy="614477"/>
          </a:xfrm>
          <a:prstGeom prst="ellipse">
            <a:avLst/>
          </a:prstGeom>
          <a:solidFill>
            <a:srgbClr val="1A1A1A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32013" y="3902659"/>
            <a:ext cx="907085" cy="585216"/>
          </a:xfrm>
          <a:prstGeom prst="ellipse">
            <a:avLst/>
          </a:prstGeom>
          <a:solidFill>
            <a:srgbClr val="1A1A1A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87968" y="3858768"/>
            <a:ext cx="877824" cy="555955"/>
          </a:xfrm>
          <a:prstGeom prst="ellipse">
            <a:avLst/>
          </a:prstGeom>
          <a:solidFill>
            <a:srgbClr val="1A1A1A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a Team Members Page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5720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</a:rPr>
              <a:t>Elaborate on your team — names, roles, and what each member built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0" y="1042416"/>
            <a:ext cx="5486400" cy="0"/>
          </a:xfrm>
          <a:prstGeom prst="line">
            <a:avLst/>
          </a:prstGeom>
          <a:noFill/>
          <a:ln w="12700">
            <a:solidFill>
              <a:srgbClr val="E0DAD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" y="1234440"/>
            <a:ext cx="1417320" cy="1417320"/>
          </a:xfrm>
          <a:prstGeom prst="ellipse">
            <a:avLst/>
          </a:prstGeom>
          <a:solidFill>
            <a:srgbClr val="CC1515">
              <a:alpha val="92000"/>
            </a:srgbClr>
          </a:solidFill>
          <a:ln w="25400">
            <a:solidFill>
              <a:srgbClr val="CC151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12344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457200" y="28163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Name 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31272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Role / Position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3832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College Name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953512" y="1234440"/>
            <a:ext cx="1417320" cy="1417320"/>
          </a:xfrm>
          <a:prstGeom prst="ellipse">
            <a:avLst/>
          </a:prstGeom>
          <a:solidFill>
            <a:srgbClr val="0D1117">
              <a:alpha val="92000"/>
            </a:srgbClr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53512" y="12344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3800" dirty="0"/>
          </a:p>
        </p:txBody>
      </p:sp>
      <p:sp>
        <p:nvSpPr>
          <p:cNvPr id="30" name="Text 28"/>
          <p:cNvSpPr/>
          <p:nvPr/>
        </p:nvSpPr>
        <p:spPr>
          <a:xfrm>
            <a:off x="2606040" y="28163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Name 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606040" y="31272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Role / Position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06040" y="33832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College Name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102352" y="1234440"/>
            <a:ext cx="1417320" cy="1417320"/>
          </a:xfrm>
          <a:prstGeom prst="ellipse">
            <a:avLst/>
          </a:prstGeom>
          <a:solidFill>
            <a:srgbClr val="CC1515">
              <a:alpha val="92000"/>
            </a:srgbClr>
          </a:solidFill>
          <a:ln w="25400">
            <a:solidFill>
              <a:srgbClr val="CC151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02352" y="12344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3800" dirty="0"/>
          </a:p>
        </p:txBody>
      </p:sp>
      <p:sp>
        <p:nvSpPr>
          <p:cNvPr id="35" name="Text 33"/>
          <p:cNvSpPr/>
          <p:nvPr/>
        </p:nvSpPr>
        <p:spPr>
          <a:xfrm>
            <a:off x="4754880" y="28163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Name 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754880" y="31272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Role / Position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54880" y="33832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College Name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251192" y="1234440"/>
            <a:ext cx="1417320" cy="1417320"/>
          </a:xfrm>
          <a:prstGeom prst="ellipse">
            <a:avLst/>
          </a:prstGeom>
          <a:solidFill>
            <a:srgbClr val="0D1117">
              <a:alpha val="92000"/>
            </a:srgbClr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51192" y="12344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3800" dirty="0"/>
          </a:p>
        </p:txBody>
      </p:sp>
      <p:sp>
        <p:nvSpPr>
          <p:cNvPr id="40" name="Text 38"/>
          <p:cNvSpPr/>
          <p:nvPr/>
        </p:nvSpPr>
        <p:spPr>
          <a:xfrm>
            <a:off x="6903720" y="28163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Name 4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903720" y="31272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Role / Position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03720" y="33832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College Name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77240" y="365760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CC1515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" y="3657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 / ML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926080" y="365760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D1117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26080" y="3657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Backend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74920" y="365760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CC1515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74920" y="3657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Frontend / UI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223760" y="365760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D1117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23760" y="3657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Research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7200" y="4023360"/>
            <a:ext cx="8229600" cy="868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409651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DDD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"Building independence, one path at a time — Hikari Shinro AI"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A0E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0"/>
            <a:ext cx="64008" cy="4937760"/>
          </a:xfrm>
          <a:prstGeom prst="rect">
            <a:avLst/>
          </a:prstGeom>
          <a:solidFill>
            <a:srgbClr val="1A3A1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" y="0"/>
            <a:ext cx="155448" cy="64008"/>
          </a:xfrm>
          <a:prstGeom prst="ellipse">
            <a:avLst/>
          </a:prstGeom>
          <a:solidFill>
            <a:srgbClr val="1A3A1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897775"/>
            <a:ext cx="155448" cy="64008"/>
          </a:xfrm>
          <a:prstGeom prst="ellipse">
            <a:avLst/>
          </a:prstGeom>
          <a:solidFill>
            <a:srgbClr val="1A3A1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1795549"/>
            <a:ext cx="155448" cy="64008"/>
          </a:xfrm>
          <a:prstGeom prst="ellipse">
            <a:avLst/>
          </a:prstGeom>
          <a:solidFill>
            <a:srgbClr val="1A3A1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2693324"/>
            <a:ext cx="155448" cy="64008"/>
          </a:xfrm>
          <a:prstGeom prst="ellipse">
            <a:avLst/>
          </a:prstGeom>
          <a:solidFill>
            <a:srgbClr val="1A3A1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" y="3591098"/>
            <a:ext cx="155448" cy="64008"/>
          </a:xfrm>
          <a:prstGeom prst="ellipse">
            <a:avLst/>
          </a:prstGeom>
          <a:solidFill>
            <a:srgbClr val="1A3A1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" y="4488873"/>
            <a:ext cx="155448" cy="64008"/>
          </a:xfrm>
          <a:prstGeom prst="ellipse">
            <a:avLst/>
          </a:prstGeom>
          <a:solidFill>
            <a:srgbClr val="1A3A1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0"/>
            <a:ext cx="64008" cy="4937760"/>
          </a:xfrm>
          <a:prstGeom prst="rect">
            <a:avLst/>
          </a:prstGeom>
          <a:solidFill>
            <a:srgbClr val="1A3A1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" y="0"/>
            <a:ext cx="155448" cy="64008"/>
          </a:xfrm>
          <a:prstGeom prst="ellipse">
            <a:avLst/>
          </a:prstGeom>
          <a:solidFill>
            <a:srgbClr val="1A3A1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" y="897775"/>
            <a:ext cx="155448" cy="64008"/>
          </a:xfrm>
          <a:prstGeom prst="ellipse">
            <a:avLst/>
          </a:prstGeom>
          <a:solidFill>
            <a:srgbClr val="1A3A1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" y="1795549"/>
            <a:ext cx="155448" cy="64008"/>
          </a:xfrm>
          <a:prstGeom prst="ellipse">
            <a:avLst/>
          </a:prstGeom>
          <a:solidFill>
            <a:srgbClr val="1A3A1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" y="2693324"/>
            <a:ext cx="155448" cy="64008"/>
          </a:xfrm>
          <a:prstGeom prst="ellipse">
            <a:avLst/>
          </a:prstGeom>
          <a:solidFill>
            <a:srgbClr val="1A3A1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" y="3591098"/>
            <a:ext cx="155448" cy="64008"/>
          </a:xfrm>
          <a:prstGeom prst="ellipse">
            <a:avLst/>
          </a:prstGeom>
          <a:solidFill>
            <a:srgbClr val="1A3A1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" y="4488873"/>
            <a:ext cx="155448" cy="64008"/>
          </a:xfrm>
          <a:prstGeom prst="ellipse">
            <a:avLst/>
          </a:prstGeom>
          <a:solidFill>
            <a:srgbClr val="1A3A1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" y="0"/>
            <a:ext cx="64008" cy="4937760"/>
          </a:xfrm>
          <a:prstGeom prst="rect">
            <a:avLst/>
          </a:prstGeom>
          <a:solidFill>
            <a:srgbClr val="1A3A1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9496" y="0"/>
            <a:ext cx="155448" cy="64008"/>
          </a:xfrm>
          <a:prstGeom prst="ellipse">
            <a:avLst/>
          </a:prstGeom>
          <a:solidFill>
            <a:srgbClr val="1A3A1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9496" y="897775"/>
            <a:ext cx="155448" cy="64008"/>
          </a:xfrm>
          <a:prstGeom prst="ellipse">
            <a:avLst/>
          </a:prstGeom>
          <a:solidFill>
            <a:srgbClr val="1A3A1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9496" y="1795549"/>
            <a:ext cx="155448" cy="64008"/>
          </a:xfrm>
          <a:prstGeom prst="ellipse">
            <a:avLst/>
          </a:prstGeom>
          <a:solidFill>
            <a:srgbClr val="1A3A1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9496" y="2693324"/>
            <a:ext cx="155448" cy="64008"/>
          </a:xfrm>
          <a:prstGeom prst="ellipse">
            <a:avLst/>
          </a:prstGeom>
          <a:solidFill>
            <a:srgbClr val="1A3A1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" y="3591098"/>
            <a:ext cx="155448" cy="64008"/>
          </a:xfrm>
          <a:prstGeom prst="ellipse">
            <a:avLst/>
          </a:prstGeom>
          <a:solidFill>
            <a:srgbClr val="1A3A1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9496" y="4488873"/>
            <a:ext cx="155448" cy="64008"/>
          </a:xfrm>
          <a:prstGeom prst="ellipse">
            <a:avLst/>
          </a:prstGeom>
          <a:solidFill>
            <a:srgbClr val="1A3A1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0"/>
            <a:ext cx="64008" cy="4937760"/>
          </a:xfrm>
          <a:prstGeom prst="rect">
            <a:avLst/>
          </a:prstGeom>
          <a:solidFill>
            <a:srgbClr val="1A3A1A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0"/>
            <a:ext cx="155448" cy="64008"/>
          </a:xfrm>
          <a:prstGeom prst="ellipse">
            <a:avLst/>
          </a:prstGeom>
          <a:solidFill>
            <a:srgbClr val="1A3A1A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897775"/>
            <a:ext cx="155448" cy="64008"/>
          </a:xfrm>
          <a:prstGeom prst="ellipse">
            <a:avLst/>
          </a:prstGeom>
          <a:solidFill>
            <a:srgbClr val="1A3A1A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1795549"/>
            <a:ext cx="155448" cy="64008"/>
          </a:xfrm>
          <a:prstGeom prst="ellipse">
            <a:avLst/>
          </a:prstGeom>
          <a:solidFill>
            <a:srgbClr val="1A3A1A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" y="2693324"/>
            <a:ext cx="155448" cy="64008"/>
          </a:xfrm>
          <a:prstGeom prst="ellipse">
            <a:avLst/>
          </a:prstGeom>
          <a:solidFill>
            <a:srgbClr val="1A3A1A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3591098"/>
            <a:ext cx="155448" cy="64008"/>
          </a:xfrm>
          <a:prstGeom prst="ellipse">
            <a:avLst/>
          </a:prstGeom>
          <a:solidFill>
            <a:srgbClr val="1A3A1A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680" y="4488873"/>
            <a:ext cx="155448" cy="64008"/>
          </a:xfrm>
          <a:prstGeom prst="ellipse">
            <a:avLst/>
          </a:prstGeom>
          <a:solidFill>
            <a:srgbClr val="1A3A1A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15568" y="0"/>
            <a:ext cx="64008" cy="4937760"/>
          </a:xfrm>
          <a:prstGeom prst="rect">
            <a:avLst/>
          </a:prstGeom>
          <a:solidFill>
            <a:srgbClr val="1A3A1A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69848" y="0"/>
            <a:ext cx="155448" cy="64008"/>
          </a:xfrm>
          <a:prstGeom prst="ellipse">
            <a:avLst/>
          </a:prstGeom>
          <a:solidFill>
            <a:srgbClr val="1A3A1A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9848" y="897775"/>
            <a:ext cx="155448" cy="64008"/>
          </a:xfrm>
          <a:prstGeom prst="ellipse">
            <a:avLst/>
          </a:prstGeom>
          <a:solidFill>
            <a:srgbClr val="1A3A1A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69848" y="1795549"/>
            <a:ext cx="155448" cy="64008"/>
          </a:xfrm>
          <a:prstGeom prst="ellipse">
            <a:avLst/>
          </a:prstGeom>
          <a:solidFill>
            <a:srgbClr val="1A3A1A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69848" y="2693324"/>
            <a:ext cx="155448" cy="64008"/>
          </a:xfrm>
          <a:prstGeom prst="ellipse">
            <a:avLst/>
          </a:prstGeom>
          <a:solidFill>
            <a:srgbClr val="1A3A1A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69848" y="3591098"/>
            <a:ext cx="155448" cy="64008"/>
          </a:xfrm>
          <a:prstGeom prst="ellipse">
            <a:avLst/>
          </a:prstGeom>
          <a:solidFill>
            <a:srgbClr val="1A3A1A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69848" y="4488873"/>
            <a:ext cx="155448" cy="64008"/>
          </a:xfrm>
          <a:prstGeom prst="ellipse">
            <a:avLst/>
          </a:prstGeom>
          <a:solidFill>
            <a:srgbClr val="1A3A1A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16736" y="0"/>
            <a:ext cx="64008" cy="4937760"/>
          </a:xfrm>
          <a:prstGeom prst="rect">
            <a:avLst/>
          </a:prstGeom>
          <a:solidFill>
            <a:srgbClr val="1A3A1A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71016" y="0"/>
            <a:ext cx="155448" cy="64008"/>
          </a:xfrm>
          <a:prstGeom prst="ellipse">
            <a:avLst/>
          </a:prstGeom>
          <a:solidFill>
            <a:srgbClr val="1A3A1A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71016" y="897775"/>
            <a:ext cx="155448" cy="64008"/>
          </a:xfrm>
          <a:prstGeom prst="ellipse">
            <a:avLst/>
          </a:prstGeom>
          <a:solidFill>
            <a:srgbClr val="1A3A1A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271016" y="1795549"/>
            <a:ext cx="155448" cy="64008"/>
          </a:xfrm>
          <a:prstGeom prst="ellipse">
            <a:avLst/>
          </a:prstGeom>
          <a:solidFill>
            <a:srgbClr val="1A3A1A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71016" y="2693324"/>
            <a:ext cx="155448" cy="64008"/>
          </a:xfrm>
          <a:prstGeom prst="ellipse">
            <a:avLst/>
          </a:prstGeom>
          <a:solidFill>
            <a:srgbClr val="1A3A1A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271016" y="3591098"/>
            <a:ext cx="155448" cy="64008"/>
          </a:xfrm>
          <a:prstGeom prst="ellipse">
            <a:avLst/>
          </a:prstGeom>
          <a:solidFill>
            <a:srgbClr val="1A3A1A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271016" y="4488873"/>
            <a:ext cx="155448" cy="64008"/>
          </a:xfrm>
          <a:prstGeom prst="ellipse">
            <a:avLst/>
          </a:prstGeom>
          <a:solidFill>
            <a:srgbClr val="1A3A1A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011680" y="457200"/>
            <a:ext cx="64008" cy="4389120"/>
          </a:xfrm>
          <a:prstGeom prst="rect">
            <a:avLst/>
          </a:prstGeom>
          <a:solidFill>
            <a:srgbClr val="1A3A1A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965960" y="457200"/>
            <a:ext cx="155448" cy="64008"/>
          </a:xfrm>
          <a:prstGeom prst="ellipse">
            <a:avLst/>
          </a:prstGeom>
          <a:solidFill>
            <a:srgbClr val="1A3A1A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65960" y="1255222"/>
            <a:ext cx="155448" cy="64008"/>
          </a:xfrm>
          <a:prstGeom prst="ellipse">
            <a:avLst/>
          </a:prstGeom>
          <a:solidFill>
            <a:srgbClr val="1A3A1A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65960" y="2053244"/>
            <a:ext cx="155448" cy="64008"/>
          </a:xfrm>
          <a:prstGeom prst="ellipse">
            <a:avLst/>
          </a:prstGeom>
          <a:solidFill>
            <a:srgbClr val="1A3A1A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965960" y="2851265"/>
            <a:ext cx="155448" cy="64008"/>
          </a:xfrm>
          <a:prstGeom prst="ellipse">
            <a:avLst/>
          </a:prstGeom>
          <a:solidFill>
            <a:srgbClr val="1A3A1A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65960" y="3649287"/>
            <a:ext cx="155448" cy="64008"/>
          </a:xfrm>
          <a:prstGeom prst="ellipse">
            <a:avLst/>
          </a:prstGeom>
          <a:solidFill>
            <a:srgbClr val="1A3A1A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65960" y="4447309"/>
            <a:ext cx="155448" cy="64008"/>
          </a:xfrm>
          <a:prstGeom prst="ellipse">
            <a:avLst/>
          </a:prstGeom>
          <a:solidFill>
            <a:srgbClr val="1A3A1A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212848" y="457200"/>
            <a:ext cx="64008" cy="4389120"/>
          </a:xfrm>
          <a:prstGeom prst="rect">
            <a:avLst/>
          </a:prstGeom>
          <a:solidFill>
            <a:srgbClr val="1A3A1A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167128" y="457200"/>
            <a:ext cx="155448" cy="64008"/>
          </a:xfrm>
          <a:prstGeom prst="ellipse">
            <a:avLst/>
          </a:prstGeom>
          <a:solidFill>
            <a:srgbClr val="1A3A1A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167128" y="1255222"/>
            <a:ext cx="155448" cy="64008"/>
          </a:xfrm>
          <a:prstGeom prst="ellipse">
            <a:avLst/>
          </a:prstGeom>
          <a:solidFill>
            <a:srgbClr val="1A3A1A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167128" y="2053244"/>
            <a:ext cx="155448" cy="64008"/>
          </a:xfrm>
          <a:prstGeom prst="ellipse">
            <a:avLst/>
          </a:prstGeom>
          <a:solidFill>
            <a:srgbClr val="1A3A1A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167128" y="2851265"/>
            <a:ext cx="155448" cy="64008"/>
          </a:xfrm>
          <a:prstGeom prst="ellipse">
            <a:avLst/>
          </a:prstGeom>
          <a:solidFill>
            <a:srgbClr val="1A3A1A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167128" y="3649287"/>
            <a:ext cx="155448" cy="64008"/>
          </a:xfrm>
          <a:prstGeom prst="ellipse">
            <a:avLst/>
          </a:prstGeom>
          <a:solidFill>
            <a:srgbClr val="1A3A1A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167128" y="4447309"/>
            <a:ext cx="155448" cy="64008"/>
          </a:xfrm>
          <a:prstGeom prst="ellipse">
            <a:avLst/>
          </a:prstGeom>
          <a:solidFill>
            <a:srgbClr val="1A3A1A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414016" y="457200"/>
            <a:ext cx="64008" cy="4389120"/>
          </a:xfrm>
          <a:prstGeom prst="rect">
            <a:avLst/>
          </a:prstGeom>
          <a:solidFill>
            <a:srgbClr val="1A3A1A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68296" y="457200"/>
            <a:ext cx="155448" cy="64008"/>
          </a:xfrm>
          <a:prstGeom prst="ellipse">
            <a:avLst/>
          </a:prstGeom>
          <a:solidFill>
            <a:srgbClr val="1A3A1A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68296" y="1255222"/>
            <a:ext cx="155448" cy="64008"/>
          </a:xfrm>
          <a:prstGeom prst="ellipse">
            <a:avLst/>
          </a:prstGeom>
          <a:solidFill>
            <a:srgbClr val="1A3A1A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68296" y="2053244"/>
            <a:ext cx="155448" cy="64008"/>
          </a:xfrm>
          <a:prstGeom prst="ellipse">
            <a:avLst/>
          </a:prstGeom>
          <a:solidFill>
            <a:srgbClr val="1A3A1A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68296" y="2851265"/>
            <a:ext cx="155448" cy="64008"/>
          </a:xfrm>
          <a:prstGeom prst="ellipse">
            <a:avLst/>
          </a:prstGeom>
          <a:solidFill>
            <a:srgbClr val="1A3A1A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68296" y="3649287"/>
            <a:ext cx="155448" cy="64008"/>
          </a:xfrm>
          <a:prstGeom prst="ellipse">
            <a:avLst/>
          </a:prstGeom>
          <a:solidFill>
            <a:srgbClr val="1A3A1A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68296" y="4447309"/>
            <a:ext cx="155448" cy="64008"/>
          </a:xfrm>
          <a:prstGeom prst="ellipse">
            <a:avLst/>
          </a:prstGeom>
          <a:solidFill>
            <a:srgbClr val="1A3A1A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389120" y="457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C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 Us</a:t>
            </a:r>
            <a:endParaRPr lang="en-US" sz="3200" dirty="0"/>
          </a:p>
        </p:txBody>
      </p:sp>
      <p:sp>
        <p:nvSpPr>
          <p:cNvPr id="67" name="Shape 65"/>
          <p:cNvSpPr/>
          <p:nvPr/>
        </p:nvSpPr>
        <p:spPr>
          <a:xfrm>
            <a:off x="4389120" y="1143000"/>
            <a:ext cx="4389120" cy="0"/>
          </a:xfrm>
          <a:prstGeom prst="line">
            <a:avLst/>
          </a:prstGeom>
          <a:noFill/>
          <a:ln w="10160">
            <a:solidFill>
              <a:srgbClr val="CC1515">
                <a:alpha val="6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389120" y="1325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GitHub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389120" y="16002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github.com/your-team/hikari-shinro-ai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4389120" y="1947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Email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389120" y="22219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team@example.com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389120" y="2569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Built at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4389120" y="284378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IIIT Manipur · CodeRonin · Ahouba 3.0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389120" y="31912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Date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389120" y="34655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21–22 March 2026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4389120" y="4023360"/>
            <a:ext cx="4389120" cy="0"/>
          </a:xfrm>
          <a:prstGeom prst="line">
            <a:avLst/>
          </a:prstGeom>
          <a:noFill/>
          <a:ln w="10160">
            <a:solidFill>
              <a:srgbClr val="CC1515">
                <a:alpha val="6000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389120" y="41605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</a:rPr>
              <a:t>Powered by Akumen AI  ·  Ref: AKM/CSR/2026/03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4389120" y="44805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「光の進路」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160020"/>
            <a:ext cx="1371600" cy="960120"/>
          </a:xfrm>
          <a:prstGeom prst="ellipse">
            <a:avLst/>
          </a:prstGeom>
          <a:solidFill>
            <a:srgbClr val="CC1515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-182880"/>
            <a:ext cx="1257300" cy="914400"/>
          </a:xfrm>
          <a:prstGeom prst="ellipse">
            <a:avLst/>
          </a:prstGeom>
          <a:solidFill>
            <a:srgbClr val="CC1515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45720"/>
            <a:ext cx="1143000" cy="822960"/>
          </a:xfrm>
          <a:prstGeom prst="ellipse">
            <a:avLst/>
          </a:prstGeom>
          <a:solidFill>
            <a:srgbClr val="CC1515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8780" y="320040"/>
            <a:ext cx="1005840" cy="731520"/>
          </a:xfrm>
          <a:prstGeom prst="ellipse">
            <a:avLst/>
          </a:prstGeom>
          <a:solidFill>
            <a:srgbClr val="CC1515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502920"/>
            <a:ext cx="1143000" cy="822960"/>
          </a:xfrm>
          <a:prstGeom prst="ellipse">
            <a:avLst/>
          </a:prstGeom>
          <a:solidFill>
            <a:srgbClr val="CC1515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457200"/>
            <a:ext cx="1051560" cy="777240"/>
          </a:xfrm>
          <a:prstGeom prst="ellipse">
            <a:avLst/>
          </a:prstGeom>
          <a:solidFill>
            <a:srgbClr val="CC1515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118872"/>
            <a:ext cx="1207008" cy="844906"/>
          </a:xfrm>
          <a:prstGeom prst="ellipse">
            <a:avLst/>
          </a:prstGeom>
          <a:solidFill>
            <a:srgbClr val="CC1515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21424" y="-182880"/>
            <a:ext cx="1106424" cy="804672"/>
          </a:xfrm>
          <a:prstGeom prst="ellipse">
            <a:avLst/>
          </a:prstGeom>
          <a:solidFill>
            <a:srgbClr val="CC1515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65162" y="18288"/>
            <a:ext cx="1005840" cy="724205"/>
          </a:xfrm>
          <a:prstGeom prst="ellipse">
            <a:avLst/>
          </a:prstGeom>
          <a:solidFill>
            <a:srgbClr val="CC1515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27848" y="259690"/>
            <a:ext cx="885139" cy="643738"/>
          </a:xfrm>
          <a:prstGeom prst="ellipse">
            <a:avLst/>
          </a:prstGeom>
          <a:solidFill>
            <a:srgbClr val="CC1515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0022" y="420624"/>
            <a:ext cx="1005840" cy="724205"/>
          </a:xfrm>
          <a:prstGeom prst="ellipse">
            <a:avLst/>
          </a:prstGeom>
          <a:solidFill>
            <a:srgbClr val="CC1515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23760" y="380390"/>
            <a:ext cx="925373" cy="683971"/>
          </a:xfrm>
          <a:prstGeom prst="ellipse">
            <a:avLst/>
          </a:prstGeom>
          <a:solidFill>
            <a:srgbClr val="CC1515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-274320" y="3749040"/>
            <a:ext cx="1097280" cy="768096"/>
          </a:xfrm>
          <a:prstGeom prst="ellipse">
            <a:avLst/>
          </a:prstGeom>
          <a:solidFill>
            <a:srgbClr val="CC1515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474720"/>
            <a:ext cx="1005840" cy="731520"/>
          </a:xfrm>
          <a:prstGeom prst="ellipse">
            <a:avLst/>
          </a:prstGeom>
          <a:solidFill>
            <a:srgbClr val="CC1515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" y="3657600"/>
            <a:ext cx="914400" cy="658368"/>
          </a:xfrm>
          <a:prstGeom prst="ellipse">
            <a:avLst/>
          </a:prstGeom>
          <a:solidFill>
            <a:srgbClr val="CC1515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80160" y="3877056"/>
            <a:ext cx="804672" cy="585216"/>
          </a:xfrm>
          <a:prstGeom prst="ellipse">
            <a:avLst/>
          </a:prstGeom>
          <a:solidFill>
            <a:srgbClr val="CC1515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" y="4023360"/>
            <a:ext cx="914400" cy="658368"/>
          </a:xfrm>
          <a:prstGeom prst="ellipse">
            <a:avLst/>
          </a:prstGeom>
          <a:solidFill>
            <a:srgbClr val="CC1515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986784"/>
            <a:ext cx="841248" cy="621792"/>
          </a:xfrm>
          <a:prstGeom prst="ellipse">
            <a:avLst/>
          </a:prstGeom>
          <a:solidFill>
            <a:srgbClr val="CC1515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3721608"/>
            <a:ext cx="987552" cy="691286"/>
          </a:xfrm>
          <a:prstGeom prst="ellipse">
            <a:avLst/>
          </a:prstGeom>
          <a:solidFill>
            <a:srgbClr val="CC1515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77456" y="3474720"/>
            <a:ext cx="905256" cy="658368"/>
          </a:xfrm>
          <a:prstGeom prst="ellipse">
            <a:avLst/>
          </a:prstGeom>
          <a:solidFill>
            <a:srgbClr val="CC1515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04150" y="3639312"/>
            <a:ext cx="822960" cy="592531"/>
          </a:xfrm>
          <a:prstGeom prst="ellipse">
            <a:avLst/>
          </a:prstGeom>
          <a:solidFill>
            <a:srgbClr val="CC1515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82712" y="3836822"/>
            <a:ext cx="724205" cy="526694"/>
          </a:xfrm>
          <a:prstGeom prst="ellipse">
            <a:avLst/>
          </a:prstGeom>
          <a:solidFill>
            <a:srgbClr val="CC1515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79946" y="3968496"/>
            <a:ext cx="822960" cy="592531"/>
          </a:xfrm>
          <a:prstGeom prst="ellipse">
            <a:avLst/>
          </a:prstGeom>
          <a:solidFill>
            <a:srgbClr val="CC1515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06640" y="3935578"/>
            <a:ext cx="757123" cy="559613"/>
          </a:xfrm>
          <a:prstGeom prst="ellipse">
            <a:avLst/>
          </a:prstGeom>
          <a:solidFill>
            <a:srgbClr val="CC1515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77640" y="2194560"/>
            <a:ext cx="1188720" cy="118872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97680" y="3337560"/>
            <a:ext cx="548640" cy="13716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0" y="3566160"/>
            <a:ext cx="1463040" cy="201168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37760" y="1097280"/>
            <a:ext cx="0" cy="237744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28032" y="2468880"/>
            <a:ext cx="228600" cy="73152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91840" y="4389120"/>
            <a:ext cx="2560320" cy="365760"/>
          </a:xfrm>
          <a:prstGeom prst="ellipse">
            <a:avLst/>
          </a:prstGeom>
          <a:solidFill>
            <a:srgbClr val="CC1515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57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5800" dirty="0"/>
          </a:p>
        </p:txBody>
      </p:sp>
      <p:sp>
        <p:nvSpPr>
          <p:cNvPr id="33" name="Text 31"/>
          <p:cNvSpPr/>
          <p:nvPr/>
        </p:nvSpPr>
        <p:spPr>
          <a:xfrm>
            <a:off x="457200" y="14813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spc="300" kern="0" dirty="0">
                <a:solidFill>
                  <a:srgbClr val="CC1515"/>
                </a:solidFill>
              </a:rPr>
              <a:t>光の進路  ·  Hikari Shinro AI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7200" y="1938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</a:rPr>
              <a:t>Write a closing statement or call to action here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CC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736592"/>
            <a:ext cx="9144000" cy="201168"/>
          </a:xfrm>
          <a:prstGeom prst="rect">
            <a:avLst/>
          </a:prstGeom>
          <a:solidFill>
            <a:srgbClr val="8B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-137160" y="4645152"/>
            <a:ext cx="548640" cy="201168"/>
          </a:xfrm>
          <a:prstGeom prst="ellipse">
            <a:avLst/>
          </a:prstGeom>
          <a:solidFill>
            <a:srgbClr val="8B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8328" y="4645152"/>
            <a:ext cx="548640" cy="201168"/>
          </a:xfrm>
          <a:prstGeom prst="ellipse">
            <a:avLst/>
          </a:prstGeom>
          <a:solidFill>
            <a:srgbClr val="8B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3816" y="4645152"/>
            <a:ext cx="548640" cy="201168"/>
          </a:xfrm>
          <a:prstGeom prst="ellipse">
            <a:avLst/>
          </a:prstGeom>
          <a:solidFill>
            <a:srgbClr val="8B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89304" y="4645152"/>
            <a:ext cx="548640" cy="201168"/>
          </a:xfrm>
          <a:prstGeom prst="ellipse">
            <a:avLst/>
          </a:prstGeom>
          <a:solidFill>
            <a:srgbClr val="8B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64792" y="4645152"/>
            <a:ext cx="548640" cy="201168"/>
          </a:xfrm>
          <a:prstGeom prst="ellipse">
            <a:avLst/>
          </a:prstGeom>
          <a:solidFill>
            <a:srgbClr val="8B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240280" y="4645152"/>
            <a:ext cx="548640" cy="201168"/>
          </a:xfrm>
          <a:prstGeom prst="ellipse">
            <a:avLst/>
          </a:prstGeom>
          <a:solidFill>
            <a:srgbClr val="8B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15768" y="4645152"/>
            <a:ext cx="548640" cy="201168"/>
          </a:xfrm>
          <a:prstGeom prst="ellipse">
            <a:avLst/>
          </a:prstGeom>
          <a:solidFill>
            <a:srgbClr val="8B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191256" y="4645152"/>
            <a:ext cx="548640" cy="201168"/>
          </a:xfrm>
          <a:prstGeom prst="ellipse">
            <a:avLst/>
          </a:prstGeom>
          <a:solidFill>
            <a:srgbClr val="8B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66744" y="4645152"/>
            <a:ext cx="548640" cy="201168"/>
          </a:xfrm>
          <a:prstGeom prst="ellipse">
            <a:avLst/>
          </a:prstGeom>
          <a:solidFill>
            <a:srgbClr val="8B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142232" y="4645152"/>
            <a:ext cx="548640" cy="201168"/>
          </a:xfrm>
          <a:prstGeom prst="ellipse">
            <a:avLst/>
          </a:prstGeom>
          <a:solidFill>
            <a:srgbClr val="8B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17720" y="4645152"/>
            <a:ext cx="548640" cy="201168"/>
          </a:xfrm>
          <a:prstGeom prst="ellipse">
            <a:avLst/>
          </a:prstGeom>
          <a:solidFill>
            <a:srgbClr val="8B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93208" y="4645152"/>
            <a:ext cx="548640" cy="201168"/>
          </a:xfrm>
          <a:prstGeom prst="ellipse">
            <a:avLst/>
          </a:prstGeom>
          <a:solidFill>
            <a:srgbClr val="8B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568696" y="4645152"/>
            <a:ext cx="548640" cy="201168"/>
          </a:xfrm>
          <a:prstGeom prst="ellipse">
            <a:avLst/>
          </a:prstGeom>
          <a:solidFill>
            <a:srgbClr val="8B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44184" y="4645152"/>
            <a:ext cx="548640" cy="201168"/>
          </a:xfrm>
          <a:prstGeom prst="ellipse">
            <a:avLst/>
          </a:prstGeom>
          <a:solidFill>
            <a:srgbClr val="8B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19672" y="4645152"/>
            <a:ext cx="548640" cy="201168"/>
          </a:xfrm>
          <a:prstGeom prst="ellipse">
            <a:avLst/>
          </a:prstGeom>
          <a:solidFill>
            <a:srgbClr val="8B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995160" y="4645152"/>
            <a:ext cx="548640" cy="201168"/>
          </a:xfrm>
          <a:prstGeom prst="ellipse">
            <a:avLst/>
          </a:prstGeom>
          <a:solidFill>
            <a:srgbClr val="8B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470648" y="4645152"/>
            <a:ext cx="548640" cy="201168"/>
          </a:xfrm>
          <a:prstGeom prst="ellipse">
            <a:avLst/>
          </a:prstGeom>
          <a:solidFill>
            <a:srgbClr val="8B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946136" y="4645152"/>
            <a:ext cx="548640" cy="201168"/>
          </a:xfrm>
          <a:prstGeom prst="ellipse">
            <a:avLst/>
          </a:prstGeom>
          <a:solidFill>
            <a:srgbClr val="8B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421624" y="4645152"/>
            <a:ext cx="548640" cy="201168"/>
          </a:xfrm>
          <a:prstGeom prst="ellipse">
            <a:avLst/>
          </a:prstGeom>
          <a:solidFill>
            <a:srgbClr val="8B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897112" y="4645152"/>
            <a:ext cx="548640" cy="201168"/>
          </a:xfrm>
          <a:prstGeom prst="ellipse">
            <a:avLst/>
          </a:prstGeom>
          <a:solidFill>
            <a:srgbClr val="8B000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CodeRonin Hackathon  ·  Ahouba 3.0  ·  IIIT Manipur  ·  21–22 March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Hikari Shinro AI</dc:title>
  <dc:subject>PptxGenJS Presentation</dc:subject>
  <dc:creator>PptxGenJS</dc:creator>
  <cp:lastModifiedBy>PptxGenJS</cp:lastModifiedBy>
  <cp:revision>1</cp:revision>
  <dcterms:created xsi:type="dcterms:W3CDTF">2026-03-21T12:37:39Z</dcterms:created>
  <dcterms:modified xsi:type="dcterms:W3CDTF">2026-03-21T12:37:39Z</dcterms:modified>
</cp:coreProperties>
</file>