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91440"/>
            <a:ext cx="4389120" cy="4389120"/>
          </a:xfrm>
          <a:prstGeom prst="ellipse">
            <a:avLst/>
          </a:prstGeom>
          <a:solidFill>
            <a:srgbClr val="CC1A1A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640080"/>
            <a:ext cx="3291840" cy="3291840"/>
          </a:xfrm>
          <a:prstGeom prst="ellipse">
            <a:avLst/>
          </a:prstGeom>
          <a:solidFill>
            <a:srgbClr val="8B0000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-274320"/>
            <a:ext cx="1371600" cy="82296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0"/>
            <a:ext cx="914400" cy="6400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02352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66944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14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Hikari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C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Shinro AI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AAAAAA"/>
                </a:solidFill>
              </a:rPr>
              <a:t>光の進路  ·  Path of Light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Agentic AI Navigation for the Visually Impaired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CodeRonin Hackathon  ·  Ahouba 3.0  ·  IIIT Manipur  ·  21–22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548640" cy="365760"/>
          </a:xfrm>
          <a:prstGeom prst="ellipse">
            <a:avLst/>
          </a:prstGeom>
          <a:solidFill>
            <a:srgbClr val="1A1A1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4754880"/>
            <a:ext cx="640080" cy="457200"/>
          </a:xfrm>
          <a:prstGeom prst="ellipse">
            <a:avLst/>
          </a:prstGeom>
          <a:solidFill>
            <a:srgbClr val="CC1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212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-274320"/>
            <a:ext cx="1463040" cy="1463040"/>
          </a:xfrm>
          <a:prstGeom prst="ellipse">
            <a:avLst/>
          </a:prstGeom>
          <a:solidFill>
            <a:srgbClr val="CC1A1A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38912" cy="438912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98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554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A92"/>
                </a:solidFill>
              </a:rPr>
              <a:t>PS1 — Agentic AI for Visually Impaired Users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38912" cy="438912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1298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Proposed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1554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A92"/>
                </a:solidFill>
              </a:rPr>
              <a:t>VisionGuide: End-to-End Agentic Navigation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438912" cy="438912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2128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4688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A92"/>
                </a:solidFill>
              </a:rPr>
              <a:t>8-Layer Pipeline Overview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240280"/>
            <a:ext cx="438912" cy="438912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22128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AI Agent &amp; Workflow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24688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A92"/>
                </a:solidFill>
              </a:rPr>
              <a:t>LLM Brain + Data Flow Diagram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154680"/>
            <a:ext cx="438912" cy="438912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127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Quantitative Engine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3832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A92"/>
                </a:solidFill>
              </a:rPr>
              <a:t>Kalman · A* · Euclidean · Confidence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154680"/>
            <a:ext cx="438912" cy="438912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3127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33832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A92"/>
                </a:solidFill>
              </a:rPr>
              <a:t>100% Free · Fully Local · Zero Cost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069080"/>
            <a:ext cx="438912" cy="438912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69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4041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HUD Interface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4297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A92"/>
                </a:solidFill>
              </a:rPr>
              <a:t>Anime-Styled Real-Time Web Dashboard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4069080"/>
            <a:ext cx="438912" cy="438912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4069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4041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Innovation &amp; Impact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12080" y="4297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A92"/>
                </a:solidFill>
              </a:rPr>
              <a:t>Why Hikari Shinro AI Wins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CC1A1A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411480" cy="41148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55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C1A1A"/>
                </a:solidFill>
              </a:rPr>
              <a:t>PS —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for the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Visually Impaired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11480" y="2478024"/>
            <a:ext cx="256032" cy="256032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478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Build an agentic AI that interprets high-level spoken user goals — e.g. "Help me reach the door" — and autonomously pursues them.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953512"/>
            <a:ext cx="256032" cy="256032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89864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Use open-vocabulary object detection: new objects added to the list without any model retraining (like fine-tuning).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429000"/>
            <a:ext cx="256032" cy="256032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429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337413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Integrate monocular depth estimation to calculate real-world distances to detected objects.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904488"/>
            <a:ext cx="256032" cy="256032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904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84962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Provide haptic feedback &amp; spatial audio guidance for the visually impaired.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379976"/>
            <a:ext cx="256032" cy="256032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379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432511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Create a beacon system using smartphone sensors for indoor/outdoor positioning.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4572000"/>
            <a:ext cx="2377440" cy="365760"/>
          </a:xfrm>
          <a:prstGeom prst="rect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5902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Powered by Akumen AI  ·  Ref: AKM/CSR/2026/03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548640" cy="365760"/>
          </a:xfrm>
          <a:prstGeom prst="ellipse">
            <a:avLst/>
          </a:prstGeom>
          <a:solidFill>
            <a:srgbClr val="1A1A1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4754880"/>
            <a:ext cx="640080" cy="457200"/>
          </a:xfrm>
          <a:prstGeom prst="ellipse">
            <a:avLst/>
          </a:prstGeom>
          <a:solidFill>
            <a:srgbClr val="CC1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"/>
            <a:ext cx="411480" cy="41148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5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1A1A"/>
                </a:solidFill>
              </a:rPr>
              <a:t>PROPOSED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Hikari Shinro AI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9A92"/>
                </a:solidFill>
              </a:rPr>
              <a:t>An end-to-end agentic navigation assistant — speaks, sees, reasons, and guides.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2651760" cy="3017520"/>
          </a:xfrm>
          <a:prstGeom prst="rect">
            <a:avLst/>
          </a:prstGeom>
          <a:solidFill>
            <a:srgbClr val="CC1A1A">
              <a:alpha val="6000"/>
            </a:srgbClr>
          </a:solidFill>
          <a:ln w="12700">
            <a:solidFill>
              <a:srgbClr val="CC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45920"/>
            <a:ext cx="2651760" cy="45720"/>
          </a:xfrm>
          <a:prstGeom prst="rect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285292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A92"/>
                </a:solidFill>
              </a:rPr>
              <a:t>YOLO-World open-vocab detection + MiDaS monocular depth — no retraining, detects any object by name in real time.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64992" y="1645920"/>
            <a:ext cx="2651760" cy="3017520"/>
          </a:xfrm>
          <a:prstGeom prst="rect">
            <a:avLst/>
          </a:prstGeom>
          <a:solidFill>
            <a:srgbClr val="1A1A1A">
              <a:alpha val="6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1645920"/>
            <a:ext cx="2651760" cy="457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33672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56432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02152" y="285292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A92"/>
                </a:solidFill>
              </a:rPr>
              <a:t>LLM Agent (Groq · LLaMA 3) decomposes spoken goals into subtasks autonomously, replanning every frame without re-prompting.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1645920"/>
            <a:ext cx="2651760" cy="3017520"/>
          </a:xfrm>
          <a:prstGeom prst="rect">
            <a:avLst/>
          </a:prstGeom>
          <a:solidFill>
            <a:srgbClr val="CC1A1A">
              <a:alpha val="6000"/>
            </a:srgbClr>
          </a:solidFill>
          <a:ln w="12700">
            <a:solidFill>
              <a:srgbClr val="CC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1645920"/>
            <a:ext cx="2651760" cy="45720"/>
          </a:xfrm>
          <a:prstGeom prst="rect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🗣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4652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92240" y="285292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A92"/>
                </a:solidFill>
              </a:rPr>
              <a:t>Spoken audio via pyttsx3 (offline) + anime-styled web HUD for caregivers — dual output, zero cost.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FFFFF"/>
                </a:solidFill>
              </a:rPr>
              <a:t>⚙  Quantitative Engine:  Kalman Filter Tracking  ·  A* Pathfinding  ·  Euclidean Distance  ·  Confidence Thresholding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411480" cy="41148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5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8-Layer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749808"/>
          </a:xfrm>
          <a:prstGeom prst="rect">
            <a:avLst/>
          </a:prstGeom>
          <a:solidFill>
            <a:srgbClr val="00C4E0">
              <a:alpha val="12000"/>
            </a:srgbClr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45720" cy="749808"/>
          </a:xfrm>
          <a:prstGeom prst="rect">
            <a:avLst/>
          </a:prstGeom>
          <a:solidFill>
            <a:srgbClr val="00C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0759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4E0"/>
                </a:solidFill>
              </a:rPr>
              <a:t>L1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581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Voice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4356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4E0"/>
                </a:solidFill>
              </a:rPr>
              <a:t>Whisper STT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984248"/>
            <a:ext cx="0" cy="182880"/>
          </a:xfrm>
          <a:prstGeom prst="line">
            <a:avLst/>
          </a:prstGeom>
          <a:noFill/>
          <a:ln w="12700">
            <a:solidFill>
              <a:srgbClr val="00C4E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74320" y="2167128"/>
            <a:ext cx="4023360" cy="749808"/>
          </a:xfrm>
          <a:prstGeom prst="rect">
            <a:avLst/>
          </a:prstGeom>
          <a:solidFill>
            <a:srgbClr val="CC1A1A">
              <a:alpha val="12000"/>
            </a:srgbClr>
          </a:solidFill>
          <a:ln w="12700">
            <a:solidFill>
              <a:srgbClr val="CC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67128"/>
            <a:ext cx="45720" cy="749808"/>
          </a:xfrm>
          <a:prstGeom prst="rect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402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C1A1A"/>
                </a:solidFill>
              </a:rPr>
              <a:t>L2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Agent Brain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36829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A1A"/>
                </a:solidFill>
              </a:rPr>
              <a:t>Groq · LLaMA 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03120" y="2916936"/>
            <a:ext cx="0" cy="182880"/>
          </a:xfrm>
          <a:prstGeom prst="line">
            <a:avLst/>
          </a:prstGeom>
          <a:noFill/>
          <a:ln w="12700">
            <a:solidFill>
              <a:srgbClr val="CC1A1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74320" y="3099816"/>
            <a:ext cx="4023360" cy="749808"/>
          </a:xfrm>
          <a:prstGeom prst="rect">
            <a:avLst/>
          </a:prstGeom>
          <a:solidFill>
            <a:srgbClr val="9B59B6">
              <a:alpha val="12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099816"/>
            <a:ext cx="45720" cy="749808"/>
          </a:xfrm>
          <a:prstGeom prst="rect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17296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59B6"/>
                </a:solidFill>
              </a:rPr>
              <a:t>L3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" y="3447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Camera Feed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330098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B59B6"/>
                </a:solidFill>
              </a:rPr>
              <a:t>OpenCV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3849624"/>
            <a:ext cx="0" cy="182880"/>
          </a:xfrm>
          <a:prstGeom prst="line">
            <a:avLst/>
          </a:prstGeom>
          <a:noFill/>
          <a:ln w="12700">
            <a:solidFill>
              <a:srgbClr val="9B59B6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74320" y="4032504"/>
            <a:ext cx="4023360" cy="749808"/>
          </a:xfrm>
          <a:prstGeom prst="rect">
            <a:avLst/>
          </a:prstGeom>
          <a:solidFill>
            <a:srgbClr val="F0A020">
              <a:alpha val="12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32504"/>
            <a:ext cx="45720" cy="749808"/>
          </a:xfrm>
          <a:prstGeom prst="rect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10565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0A020"/>
                </a:solidFill>
              </a:rPr>
              <a:t>L4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4048" y="4379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Object Detection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423367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A020"/>
                </a:solidFill>
              </a:rPr>
              <a:t>YOLO-World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1234440"/>
            <a:ext cx="4023360" cy="749808"/>
          </a:xfrm>
          <a:prstGeom prst="rect">
            <a:avLst/>
          </a:prstGeom>
          <a:solidFill>
            <a:srgbClr val="3498DB">
              <a:alpha val="12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234440"/>
            <a:ext cx="45720" cy="749808"/>
          </a:xfrm>
          <a:prstGeom prst="rect">
            <a:avLst/>
          </a:prstGeom>
          <a:solidFill>
            <a:srgbClr val="3498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130759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498DB"/>
                </a:solidFill>
              </a:rPr>
              <a:t>L5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64608" y="1581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Depth Estimation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14356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98DB"/>
                </a:solidFill>
              </a:rPr>
              <a:t>MiDaS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167128"/>
            <a:ext cx="4023360" cy="749808"/>
          </a:xfrm>
          <a:prstGeom prst="rect">
            <a:avLst/>
          </a:prstGeom>
          <a:solidFill>
            <a:srgbClr val="CC1A1A">
              <a:alpha val="12000"/>
            </a:srgbClr>
          </a:solidFill>
          <a:ln w="12700">
            <a:solidFill>
              <a:srgbClr val="CC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167128"/>
            <a:ext cx="45720" cy="749808"/>
          </a:xfrm>
          <a:prstGeom prst="rect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2402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C1A1A"/>
                </a:solidFill>
              </a:rPr>
              <a:t>L6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Quant Engine ★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0" y="236829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A1A"/>
                </a:solidFill>
              </a:rPr>
              <a:t>Kalman·A*·Euclid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83680" y="2916936"/>
            <a:ext cx="0" cy="182880"/>
          </a:xfrm>
          <a:prstGeom prst="line">
            <a:avLst/>
          </a:prstGeom>
          <a:noFill/>
          <a:ln w="12700">
            <a:solidFill>
              <a:srgbClr val="CC1A1A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754880" y="3099816"/>
            <a:ext cx="4023360" cy="749808"/>
          </a:xfrm>
          <a:prstGeom prst="rect">
            <a:avLst/>
          </a:prstGeom>
          <a:solidFill>
            <a:srgbClr val="2ECC71">
              <a:alpha val="12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099816"/>
            <a:ext cx="45720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17296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</a:rPr>
              <a:t>L7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64608" y="3447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TTS Output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15200" y="330098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C71"/>
                </a:solidFill>
              </a:rPr>
              <a:t>pyttsx3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583680" y="3849624"/>
            <a:ext cx="0" cy="182880"/>
          </a:xfrm>
          <a:prstGeom prst="line">
            <a:avLst/>
          </a:prstGeom>
          <a:noFill/>
          <a:ln w="12700">
            <a:solidFill>
              <a:srgbClr val="2ECC71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4754880" y="4032504"/>
            <a:ext cx="4023360" cy="749808"/>
          </a:xfrm>
          <a:prstGeom prst="rect">
            <a:avLst/>
          </a:prstGeom>
          <a:solidFill>
            <a:srgbClr val="00C4E0">
              <a:alpha val="12000"/>
            </a:srgbClr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4032504"/>
            <a:ext cx="45720" cy="749808"/>
          </a:xfrm>
          <a:prstGeom prst="rect">
            <a:avLst/>
          </a:prstGeom>
          <a:solidFill>
            <a:srgbClr val="00C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410565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4E0"/>
                </a:solidFill>
              </a:rPr>
              <a:t>L8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64608" y="4379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Web HUD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315200" y="423367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4E0"/>
                </a:solidFill>
              </a:rPr>
              <a:t>Flask·Socket.IO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297680" y="2148840"/>
            <a:ext cx="548640" cy="0"/>
          </a:xfrm>
          <a:prstGeom prst="line">
            <a:avLst/>
          </a:prstGeom>
          <a:noFill/>
          <a:ln w="19050">
            <a:solidFill>
              <a:srgbClr val="CC1A1A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4251960" y="19202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CC1A1A"/>
                </a:solidFill>
              </a:rPr>
              <a:t>PARALLEL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548640" cy="365760"/>
          </a:xfrm>
          <a:prstGeom prst="ellipse">
            <a:avLst/>
          </a:prstGeom>
          <a:solidFill>
            <a:srgbClr val="1A1A1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4754880"/>
            <a:ext cx="640080" cy="457200"/>
          </a:xfrm>
          <a:prstGeom prst="ellipse">
            <a:avLst/>
          </a:prstGeom>
          <a:solidFill>
            <a:srgbClr val="CC1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"/>
            <a:ext cx="411480" cy="41148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5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1A1A"/>
                </a:solidFill>
              </a:rPr>
              <a:t>AI AGENT BRAIN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Agentic Loop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9A92"/>
                </a:solidFill>
              </a:rPr>
              <a:t>LLaMA 3 via Groq API  —  Continuous reasoning without re-prompting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114800" cy="960120"/>
          </a:xfrm>
          <a:prstGeom prst="rect">
            <a:avLst/>
          </a:prstGeom>
          <a:solidFill>
            <a:srgbClr val="00C4E0">
              <a:alpha val="7000"/>
            </a:srgbClr>
          </a:solidFill>
          <a:ln w="10160">
            <a:solidFill>
              <a:srgbClr val="00C4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19072"/>
            <a:ext cx="438912" cy="438912"/>
          </a:xfrm>
          <a:prstGeom prst="ellipse">
            <a:avLst/>
          </a:prstGeom>
          <a:solidFill>
            <a:srgbClr val="00C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19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4128" y="1536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Receive Goal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1828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A92"/>
                </a:solidFill>
              </a:rPr>
              <a:t>User speaks high-level goal. Whisper transcribes. Agent receives text goal.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463040"/>
            <a:ext cx="4114800" cy="960120"/>
          </a:xfrm>
          <a:prstGeom prst="rect">
            <a:avLst/>
          </a:prstGeom>
          <a:solidFill>
            <a:srgbClr val="CC1A1A">
              <a:alpha val="7000"/>
            </a:srgbClr>
          </a:solidFill>
          <a:ln w="10160">
            <a:solidFill>
              <a:srgbClr val="CC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719072"/>
            <a:ext cx="438912" cy="438912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719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58968" y="1536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Decompose Task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58968" y="1828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A92"/>
                </a:solidFill>
              </a:rPr>
              <a:t>LLM breaks goal into subtasks: what to detect, what direction to guide.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4114800" cy="960120"/>
          </a:xfrm>
          <a:prstGeom prst="rect">
            <a:avLst/>
          </a:prstGeom>
          <a:solidFill>
            <a:srgbClr val="F0A020">
              <a:alpha val="7000"/>
            </a:srgbClr>
          </a:solidFill>
          <a:ln w="10160">
            <a:solidFill>
              <a:srgbClr val="F0A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62072"/>
            <a:ext cx="438912" cy="438912"/>
          </a:xfrm>
          <a:prstGeom prst="ellipse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62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2679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Observe Scene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2971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A92"/>
                </a:solidFill>
              </a:rPr>
              <a:t>YOLO-World + MiDaS run in parallel. Quant Engine calculates distances + path.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606040"/>
            <a:ext cx="4114800" cy="960120"/>
          </a:xfrm>
          <a:prstGeom prst="rect">
            <a:avLst/>
          </a:prstGeom>
          <a:solidFill>
            <a:srgbClr val="9B59B6">
              <a:alpha val="7000"/>
            </a:srgbClr>
          </a:solidFill>
          <a:ln w="10160">
            <a:solidFill>
              <a:srgbClr val="9B59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2862072"/>
            <a:ext cx="438912" cy="43891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862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58968" y="2679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Plan &amp; Act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58968" y="2971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A92"/>
                </a:solidFill>
              </a:rPr>
              <a:t>Agent selects next action: speak guidance, update detect_next labels, replan path.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749040"/>
            <a:ext cx="4114800" cy="960120"/>
          </a:xfrm>
          <a:prstGeom prst="rect">
            <a:avLst/>
          </a:prstGeom>
          <a:solidFill>
            <a:srgbClr val="2ECC71">
              <a:alpha val="7000"/>
            </a:srgbClr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005072"/>
            <a:ext cx="438912" cy="43891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05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4128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Speak &amp; Display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24128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A92"/>
                </a:solidFill>
              </a:rPr>
              <a:t>pyttsx3 speaks guidance. Flask HUD updates with annotated frame in real time.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749040"/>
            <a:ext cx="4114800" cy="960120"/>
          </a:xfrm>
          <a:prstGeom prst="rect">
            <a:avLst/>
          </a:prstGeom>
          <a:solidFill>
            <a:srgbClr val="CC1A1A">
              <a:alpha val="7000"/>
            </a:srgbClr>
          </a:solidFill>
          <a:ln w="10160">
            <a:solidFill>
              <a:srgbClr val="CC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005072"/>
            <a:ext cx="438912" cy="438912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005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58968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Loop / Goal Check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58968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A92"/>
                </a:solidFill>
              </a:rPr>
              <a:t>Goal reached? Stop. Otherwise, return to Step 3 automatically, no re-prompting.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411480" cy="41148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5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WORKFLOW &amp; DFD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Diagram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</a:rPr>
              <a:t>Level 1 DFD — All processes, data flows, external entities, and the context buffer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2011680"/>
            <a:ext cx="1188720" cy="640080"/>
          </a:xfrm>
          <a:prstGeom prst="rect">
            <a:avLst/>
          </a:prstGeom>
          <a:solidFill>
            <a:srgbClr val="CC1A1A">
              <a:alpha val="80000"/>
            </a:srgbClr>
          </a:solidFill>
          <a:ln w="19050">
            <a:solidFill>
              <a:srgbClr val="CC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2011680"/>
            <a:ext cx="11887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Visually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Impaired User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3749040"/>
            <a:ext cx="1188720" cy="640080"/>
          </a:xfrm>
          <a:prstGeom prst="rect">
            <a:avLst/>
          </a:prstGeom>
          <a:solidFill>
            <a:srgbClr val="9B59B6">
              <a:alpha val="80000"/>
            </a:srgbClr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Camera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955280" y="2926080"/>
            <a:ext cx="1188720" cy="640080"/>
          </a:xfrm>
          <a:prstGeom prst="rect">
            <a:avLst/>
          </a:prstGeom>
          <a:solidFill>
            <a:srgbClr val="CC1A1A">
              <a:alpha val="80000"/>
            </a:srgbClr>
          </a:solidFill>
          <a:ln w="19050">
            <a:solidFill>
              <a:srgbClr val="CC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2926080"/>
            <a:ext cx="11887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Caregiver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/ Helper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37360" y="1920240"/>
            <a:ext cx="1463040" cy="731520"/>
          </a:xfrm>
          <a:prstGeom prst="ellipse">
            <a:avLst/>
          </a:prstGeom>
          <a:solidFill>
            <a:srgbClr val="00C4E0">
              <a:alpha val="25000"/>
            </a:srgbClr>
          </a:solidFill>
          <a:ln w="15240">
            <a:solidFill>
              <a:srgbClr val="00C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1920240"/>
            <a:ext cx="1463040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Whisper STT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0" y="1371600"/>
            <a:ext cx="1463040" cy="731520"/>
          </a:xfrm>
          <a:prstGeom prst="ellipse">
            <a:avLst/>
          </a:prstGeom>
          <a:solidFill>
            <a:srgbClr val="CC1A1A">
              <a:alpha val="25000"/>
            </a:srgbClr>
          </a:solidFill>
          <a:ln w="15240">
            <a:solidFill>
              <a:srgbClr val="CC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LLM Agent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83280" y="3200400"/>
            <a:ext cx="1463040" cy="731520"/>
          </a:xfrm>
          <a:prstGeom prst="ellipse">
            <a:avLst/>
          </a:prstGeom>
          <a:solidFill>
            <a:srgbClr val="F0A020">
              <a:alpha val="25000"/>
            </a:srgbClr>
          </a:solidFill>
          <a:ln w="15240">
            <a:solidFill>
              <a:srgbClr val="F0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200400"/>
            <a:ext cx="1463040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YOLO-World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737360" y="3657600"/>
            <a:ext cx="1463040" cy="731520"/>
          </a:xfrm>
          <a:prstGeom prst="ellipse">
            <a:avLst/>
          </a:prstGeom>
          <a:solidFill>
            <a:srgbClr val="3498DB">
              <a:alpha val="25000"/>
            </a:srgbClr>
          </a:solidFill>
          <a:ln w="15240">
            <a:solidFill>
              <a:srgbClr val="3498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3657600"/>
            <a:ext cx="1463040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P4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MiDaS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20640" y="3200400"/>
            <a:ext cx="1463040" cy="731520"/>
          </a:xfrm>
          <a:prstGeom prst="ellipse">
            <a:avLst/>
          </a:prstGeom>
          <a:solidFill>
            <a:srgbClr val="CC1A1A">
              <a:alpha val="25000"/>
            </a:srgbClr>
          </a:solidFill>
          <a:ln w="15240">
            <a:solidFill>
              <a:srgbClr val="CC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3200400"/>
            <a:ext cx="1463040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P5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Quant Engine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66560" y="1645920"/>
            <a:ext cx="1463040" cy="731520"/>
          </a:xfrm>
          <a:prstGeom prst="ellipse">
            <a:avLst/>
          </a:prstGeom>
          <a:solidFill>
            <a:srgbClr val="2ECC71">
              <a:alpha val="25000"/>
            </a:srgbClr>
          </a:solidFill>
          <a:ln w="1524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645920"/>
            <a:ext cx="1463040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P6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TTS Output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66560" y="3200400"/>
            <a:ext cx="1463040" cy="731520"/>
          </a:xfrm>
          <a:prstGeom prst="ellipse">
            <a:avLst/>
          </a:prstGeom>
          <a:solidFill>
            <a:srgbClr val="00C4E0">
              <a:alpha val="25000"/>
            </a:srgbClr>
          </a:solidFill>
          <a:ln w="15240">
            <a:solidFill>
              <a:srgbClr val="00C4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3200400"/>
            <a:ext cx="1463040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P7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Flask HUD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83280" y="2331720"/>
            <a:ext cx="1463040" cy="457200"/>
          </a:xfrm>
          <a:prstGeom prst="rect">
            <a:avLst/>
          </a:prstGeom>
          <a:solidFill>
            <a:srgbClr val="44444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0" y="2331720"/>
            <a:ext cx="146304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2788920"/>
            <a:ext cx="146304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2377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DS: Context Buffer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371600" y="2331720"/>
            <a:ext cx="366674" cy="0"/>
          </a:xfrm>
          <a:prstGeom prst="line">
            <a:avLst/>
          </a:prstGeom>
          <a:noFill/>
          <a:ln w="10160">
            <a:solidFill>
              <a:srgbClr val="666666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200400" y="1828800"/>
            <a:ext cx="183794" cy="-45720"/>
          </a:xfrm>
          <a:prstGeom prst="line">
            <a:avLst/>
          </a:prstGeom>
          <a:noFill/>
          <a:ln w="10160">
            <a:solidFill>
              <a:srgbClr val="666666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3383280" y="2286000"/>
            <a:ext cx="732434" cy="1005840"/>
          </a:xfrm>
          <a:prstGeom prst="line">
            <a:avLst/>
          </a:prstGeom>
          <a:noFill/>
          <a:ln w="10160">
            <a:solidFill>
              <a:srgbClr val="666666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1371600" y="4069080"/>
            <a:ext cx="366674" cy="0"/>
          </a:xfrm>
          <a:prstGeom prst="line">
            <a:avLst/>
          </a:prstGeom>
          <a:noFill/>
          <a:ln w="10160">
            <a:solidFill>
              <a:srgbClr val="666666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200400" y="4069080"/>
            <a:ext cx="183794" cy="-411480"/>
          </a:xfrm>
          <a:prstGeom prst="line">
            <a:avLst/>
          </a:prstGeom>
          <a:noFill/>
          <a:ln w="10160">
            <a:solidFill>
              <a:srgbClr val="666666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846320" y="3566160"/>
            <a:ext cx="275234" cy="0"/>
          </a:xfrm>
          <a:prstGeom prst="line">
            <a:avLst/>
          </a:prstGeom>
          <a:noFill/>
          <a:ln w="10160">
            <a:solidFill>
              <a:srgbClr val="666666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400800" y="3566160"/>
            <a:ext cx="366674" cy="0"/>
          </a:xfrm>
          <a:prstGeom prst="line">
            <a:avLst/>
          </a:prstGeom>
          <a:noFill/>
          <a:ln w="10160">
            <a:solidFill>
              <a:srgbClr val="666666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754880" y="1783080"/>
            <a:ext cx="2012594" cy="45720"/>
          </a:xfrm>
          <a:prstGeom prst="line">
            <a:avLst/>
          </a:prstGeom>
          <a:noFill/>
          <a:ln w="10160">
            <a:solidFill>
              <a:srgbClr val="666666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8229600" y="3291840"/>
            <a:ext cx="-273406" cy="0"/>
          </a:xfrm>
          <a:prstGeom prst="line">
            <a:avLst/>
          </a:prstGeom>
          <a:noFill/>
          <a:ln w="10160">
            <a:solidFill>
              <a:srgbClr val="666666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8229600" y="2011680"/>
            <a:ext cx="914" cy="0"/>
          </a:xfrm>
          <a:prstGeom prst="line">
            <a:avLst/>
          </a:prstGeom>
          <a:noFill/>
          <a:ln w="10160">
            <a:solidFill>
              <a:srgbClr val="666666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548640" cy="365760"/>
          </a:xfrm>
          <a:prstGeom prst="ellipse">
            <a:avLst/>
          </a:prstGeom>
          <a:solidFill>
            <a:srgbClr val="1A1A1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4754880"/>
            <a:ext cx="640080" cy="457200"/>
          </a:xfrm>
          <a:prstGeom prst="ellipse">
            <a:avLst/>
          </a:prstGeom>
          <a:solidFill>
            <a:srgbClr val="CC1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"/>
            <a:ext cx="411480" cy="41148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5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1A1A"/>
                </a:solidFill>
              </a:rPr>
              <a:t>QUANTITATIVE ENGINE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 × AI — The Theme-Lock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9A92"/>
                </a:solidFill>
              </a:rPr>
              <a:t>Four explicit quantitative algorithms — judges cannot miss them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1965960" cy="1737360"/>
          </a:xfrm>
          <a:prstGeom prst="rect">
            <a:avLst/>
          </a:prstGeom>
          <a:solidFill>
            <a:srgbClr val="F8F6F2"/>
          </a:solidFill>
          <a:ln w="10160">
            <a:solidFill>
              <a:srgbClr val="EEE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1591056"/>
            <a:ext cx="713232" cy="713232"/>
          </a:xfrm>
          <a:prstGeom prst="ellipse">
            <a:avLst/>
          </a:prstGeom>
          <a:solidFill>
            <a:srgbClr val="CC1A1A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59105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8912" y="239572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Kalman Filter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688336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A92"/>
                </a:solidFill>
              </a:rPr>
              <a:t>Statistical object tracking across frames. Estimates position when occluded using SciPy linear algebra.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23160" y="1481328"/>
            <a:ext cx="1965960" cy="1737360"/>
          </a:xfrm>
          <a:prstGeom prst="rect">
            <a:avLst/>
          </a:prstGeom>
          <a:solidFill>
            <a:srgbClr val="F8F6F2"/>
          </a:solidFill>
          <a:ln w="10160">
            <a:solidFill>
              <a:srgbClr val="EEE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4952" y="1591056"/>
            <a:ext cx="713232" cy="713232"/>
          </a:xfrm>
          <a:prstGeom prst="ellipse">
            <a:avLst/>
          </a:prstGeom>
          <a:solidFill>
            <a:srgbClr val="CC1A1A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159105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96312" y="239572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A* Pathfinding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96312" y="2688336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A92"/>
                </a:solidFill>
              </a:rPr>
              <a:t>2D obstacle grid from depth map. Finds shortest safe path to target using heapq (Python stdlib).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1481328"/>
            <a:ext cx="1965960" cy="1737360"/>
          </a:xfrm>
          <a:prstGeom prst="rect">
            <a:avLst/>
          </a:prstGeom>
          <a:solidFill>
            <a:srgbClr val="F8F6F2"/>
          </a:solidFill>
          <a:ln w="10160">
            <a:solidFill>
              <a:srgbClr val="EEE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02352" y="1591056"/>
            <a:ext cx="713232" cy="713232"/>
          </a:xfrm>
          <a:prstGeom prst="ellipse">
            <a:avLst/>
          </a:prstGeom>
          <a:solidFill>
            <a:srgbClr val="CC1A1A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159105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③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53712" y="239572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Euclidean Distance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53712" y="2688336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A92"/>
                </a:solidFill>
              </a:rPr>
              <a:t>Real-world distance calc: √(Δx²+Δy²+Δz²) on 3D points derived from the MiDaS depth map.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37960" y="1481328"/>
            <a:ext cx="1965960" cy="1737360"/>
          </a:xfrm>
          <a:prstGeom prst="rect">
            <a:avLst/>
          </a:prstGeom>
          <a:solidFill>
            <a:srgbClr val="F8F6F2"/>
          </a:solidFill>
          <a:ln w="10160">
            <a:solidFill>
              <a:srgbClr val="EEE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59752" y="1591056"/>
            <a:ext cx="713232" cy="713232"/>
          </a:xfrm>
          <a:prstGeom prst="ellipse">
            <a:avLst/>
          </a:prstGeom>
          <a:solidFill>
            <a:srgbClr val="CC1A1A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9752" y="159105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④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611112" y="239572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Confidence Scoring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11112" y="2688336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A92"/>
                </a:solidFill>
              </a:rPr>
              <a:t>Statistical threshold ≥ 0.6 filters YOLO detections. Eliminates noise before sending to agent.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337560"/>
            <a:ext cx="841248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401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1A1A"/>
                </a:solidFill>
              </a:rPr>
              <a:t>Mathematical Foundations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6758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1A1A"/>
                </a:solidFill>
              </a:rPr>
              <a:t>Kalman Predict: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03120" y="367588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x̂ₖ = Axₖ₋₁ + Buₖ     Pₖ = APₖ₋₁Aᵀ + Q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9502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1A1A"/>
                </a:solidFill>
              </a:rPr>
              <a:t>Kalman Update: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103120" y="395020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Kₖ = PₖHᵀ(HPₖHᵀ + R)⁻¹     x̂ₖ = x̂ₖ + Kₖ(zₖ − Hx̂ₖ)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224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1A1A"/>
                </a:solidFill>
              </a:rPr>
              <a:t>Euclidean Dist: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103120" y="422452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√((x₂−x₁)² + (y₂−y₁)² + (z₂−z₁)²)   where z = depth_scale × depth_map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4988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1A1A"/>
                </a:solidFill>
              </a:rPr>
              <a:t>A* Heuristic: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103120" y="44988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g(n) + h(n)   where h(n) = Manhattan distance to goal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411480" cy="41148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5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OBJECT DETECTION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YOLO-World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A020"/>
                </a:solidFill>
              </a:rPr>
              <a:t>Open-Vocabulary Detection — No Retraining Required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840480" cy="3108960"/>
          </a:xfrm>
          <a:prstGeom prst="rect">
            <a:avLst/>
          </a:prstGeom>
          <a:solidFill>
            <a:srgbClr val="CC1A1A">
              <a:alpha val="12000"/>
            </a:srgbClr>
          </a:solidFill>
          <a:ln w="12700">
            <a:solidFill>
              <a:srgbClr val="CC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1A1A"/>
                </a:solidFill>
              </a:rPr>
              <a:t>Traditional Detection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201168" cy="201168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57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Fixed class vocabulary (80 COCO classes)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201168" cy="201168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New object = full retraining cycle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99232"/>
            <a:ext cx="201168" cy="201168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71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Retraining takes hours/days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201168" cy="201168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29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Requires labelled dataset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201168" cy="201168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86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Cannot detect 'door handle' on the fly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1600200"/>
            <a:ext cx="4297680" cy="3108960"/>
          </a:xfrm>
          <a:prstGeom prst="rect">
            <a:avLst/>
          </a:prstGeom>
          <a:solidFill>
            <a:srgbClr val="F0A020">
              <a:alpha val="12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6002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020"/>
                </a:solidFill>
              </a:rPr>
              <a:t>YOLO-World 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084832"/>
            <a:ext cx="201168" cy="201168"/>
          </a:xfrm>
          <a:prstGeom prst="ellipse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057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Open vocabulary — detect ANY object by text label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542032"/>
            <a:ext cx="201168" cy="201168"/>
          </a:xfrm>
          <a:prstGeom prst="ellipse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514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LLM agent passes text: "door", "chair", "steps"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999232"/>
            <a:ext cx="201168" cy="201168"/>
          </a:xfrm>
          <a:prstGeom prst="ellipse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Zero retraining — works instantly on new objects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456432"/>
            <a:ext cx="201168" cy="201168"/>
          </a:xfrm>
          <a:prstGeom prst="ellipse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Confidence scoring + bounding boxes returned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913632"/>
            <a:ext cx="201168" cy="201168"/>
          </a:xfrm>
          <a:prstGeom prst="ellipse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886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YOLO-World-S: ~50MB, runs on laptop GPU/CPU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0" y="265176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548640" cy="365760"/>
          </a:xfrm>
          <a:prstGeom prst="ellipse">
            <a:avLst/>
          </a:prstGeom>
          <a:solidFill>
            <a:srgbClr val="1A1A1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4754880"/>
            <a:ext cx="640080" cy="457200"/>
          </a:xfrm>
          <a:prstGeom prst="ellipse">
            <a:avLst/>
          </a:prstGeom>
          <a:solidFill>
            <a:srgbClr val="CC1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"/>
            <a:ext cx="411480" cy="41148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5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1A1A"/>
                </a:solidFill>
              </a:rPr>
              <a:t>DEPTH ESTIMATION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MiDaS — Monocular Depth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9A92"/>
                </a:solidFill>
              </a:rPr>
              <a:t>Single camera frame → real-world distance map in milliseconds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554480" cy="3291840"/>
          </a:xfrm>
          <a:prstGeom prst="rect">
            <a:avLst/>
          </a:prstGeom>
          <a:solidFill>
            <a:srgbClr val="3498DB">
              <a:alpha val="1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08760"/>
            <a:ext cx="1554480" cy="502920"/>
          </a:xfrm>
          <a:prstGeom prst="rect">
            <a:avLst/>
          </a:prstGeom>
          <a:solidFill>
            <a:srgbClr val="3498DB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1371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Single RGB camera frame (384×384px)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3154680"/>
            <a:ext cx="182880" cy="0"/>
          </a:xfrm>
          <a:prstGeom prst="line">
            <a:avLst/>
          </a:prstGeom>
          <a:noFill/>
          <a:ln w="19050">
            <a:solidFill>
              <a:srgbClr val="3498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1508760"/>
            <a:ext cx="1554480" cy="3291840"/>
          </a:xfrm>
          <a:prstGeom prst="rect">
            <a:avLst/>
          </a:prstGeom>
          <a:solidFill>
            <a:srgbClr val="CC1A1A">
              <a:alpha val="10000"/>
            </a:srgbClr>
          </a:solidFill>
          <a:ln w="12700">
            <a:solidFill>
              <a:srgbClr val="CC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1508760"/>
            <a:ext cx="1554480" cy="502920"/>
          </a:xfrm>
          <a:prstGeom prst="rect">
            <a:avLst/>
          </a:prstGeom>
          <a:solidFill>
            <a:srgbClr val="CC1A1A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MiDaS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INFERENCE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94560" y="2103120"/>
            <a:ext cx="1371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DPT-Large transformer predicts relative depth for every pixel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0" y="3154680"/>
            <a:ext cx="182880" cy="0"/>
          </a:xfrm>
          <a:prstGeom prst="line">
            <a:avLst/>
          </a:prstGeom>
          <a:noFill/>
          <a:ln w="19050">
            <a:solidFill>
              <a:srgbClr val="CC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1508760"/>
            <a:ext cx="1554480" cy="3291840"/>
          </a:xfrm>
          <a:prstGeom prst="rect">
            <a:avLst/>
          </a:prstGeom>
          <a:solidFill>
            <a:srgbClr val="F0A020">
              <a:alpha val="1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1508760"/>
            <a:ext cx="1554480" cy="502920"/>
          </a:xfrm>
          <a:prstGeom prst="rect">
            <a:avLst/>
          </a:prstGeom>
          <a:solidFill>
            <a:srgbClr val="F0A020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DEPTH MAP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31920" y="2103120"/>
            <a:ext cx="1371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Greyscale map output: brighter = closer to camera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0" y="3154680"/>
            <a:ext cx="182880" cy="0"/>
          </a:xfrm>
          <a:prstGeom prst="line">
            <a:avLst/>
          </a:prstGeom>
          <a:noFill/>
          <a:ln w="19050">
            <a:solidFill>
              <a:srgbClr val="F0A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1508760"/>
            <a:ext cx="1554480" cy="3291840"/>
          </a:xfrm>
          <a:prstGeom prst="rect">
            <a:avLst/>
          </a:prstGeom>
          <a:solidFill>
            <a:srgbClr val="2ECC71">
              <a:alpha val="1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1508760"/>
            <a:ext cx="1554480" cy="502920"/>
          </a:xfrm>
          <a:prstGeom prst="rect">
            <a:avLst/>
          </a:prstGeom>
          <a:solidFill>
            <a:srgbClr val="2ECC71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DISTANCE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CALC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0" y="2103120"/>
            <a:ext cx="1371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Mean depth within YOLO bounding box → scale to metres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0" y="3154680"/>
            <a:ext cx="182880" cy="0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1508760"/>
            <a:ext cx="1554480" cy="3291840"/>
          </a:xfrm>
          <a:prstGeom prst="rect">
            <a:avLst/>
          </a:prstGeom>
          <a:solidFill>
            <a:srgbClr val="9B59B6">
              <a:alpha val="1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1508760"/>
            <a:ext cx="1554480" cy="502920"/>
          </a:xfrm>
          <a:prstGeom prst="rect">
            <a:avLst/>
          </a:prstGeom>
          <a:solidFill>
            <a:srgbClr val="9B59B6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SCENE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CONTEXT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06640" y="2103120"/>
            <a:ext cx="1371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"Door at 1.8m ahead-left, chair at 0.9m right"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PS1 Requirement: "Depth estimation (Monocular or Stereo)" ✓  |  MiDaS satisfies this directly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411480" cy="41148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5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Free. Fully Local.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</a:rPr>
              <a:t>Zero cost — entire stack runs on a laptop, no billing surprises during the hackathon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4160520" cy="694944"/>
          </a:xfrm>
          <a:prstGeom prst="rect">
            <a:avLst/>
          </a:prstGeom>
          <a:solidFill>
            <a:srgbClr val="00C4E0">
              <a:alpha val="12000"/>
            </a:srgbClr>
          </a:solidFill>
          <a:ln w="10160">
            <a:solidFill>
              <a:srgbClr val="00C4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44752"/>
            <a:ext cx="45720" cy="694944"/>
          </a:xfrm>
          <a:prstGeom prst="rect">
            <a:avLst/>
          </a:prstGeom>
          <a:solidFill>
            <a:srgbClr val="00C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OpenAI Whisper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Speech → Text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1097280" cy="256032"/>
          </a:xfrm>
          <a:prstGeom prst="rect">
            <a:avLst/>
          </a:prstGeom>
          <a:solidFill>
            <a:srgbClr val="00C4E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Local · MIT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444752"/>
            <a:ext cx="4160520" cy="694944"/>
          </a:xfrm>
          <a:prstGeom prst="rect">
            <a:avLst/>
          </a:prstGeom>
          <a:solidFill>
            <a:srgbClr val="F0A020">
              <a:alpha val="12000"/>
            </a:srgbClr>
          </a:solidFill>
          <a:ln w="10160">
            <a:solidFill>
              <a:srgbClr val="F0A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444752"/>
            <a:ext cx="45720" cy="694944"/>
          </a:xfrm>
          <a:prstGeom prst="rect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YOLO-World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810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Object Detection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80960" y="1645920"/>
            <a:ext cx="1097280" cy="256032"/>
          </a:xfrm>
          <a:prstGeom prst="rect">
            <a:avLst/>
          </a:prstGeom>
          <a:solidFill>
            <a:srgbClr val="F0A02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Local · AGPL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304288"/>
            <a:ext cx="4160520" cy="694944"/>
          </a:xfrm>
          <a:prstGeom prst="rect">
            <a:avLst/>
          </a:prstGeom>
          <a:solidFill>
            <a:srgbClr val="3498DB">
              <a:alpha val="12000"/>
            </a:srgbClr>
          </a:solidFill>
          <a:ln w="10160">
            <a:solidFill>
              <a:srgbClr val="3498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304288"/>
            <a:ext cx="45720" cy="694944"/>
          </a:xfrm>
          <a:prstGeom prst="rect">
            <a:avLst/>
          </a:prstGeom>
          <a:solidFill>
            <a:srgbClr val="3498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377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MiDaS (Intel)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2670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Depth Estimation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505456"/>
            <a:ext cx="1097280" cy="256032"/>
          </a:xfrm>
          <a:prstGeom prst="rect">
            <a:avLst/>
          </a:prstGeom>
          <a:solidFill>
            <a:srgbClr val="3498DB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5054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Local · MIT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304288"/>
            <a:ext cx="4160520" cy="694944"/>
          </a:xfrm>
          <a:prstGeom prst="rect">
            <a:avLst/>
          </a:prstGeom>
          <a:solidFill>
            <a:srgbClr val="CC1A1A">
              <a:alpha val="12000"/>
            </a:srgbClr>
          </a:solidFill>
          <a:ln w="10160">
            <a:solidFill>
              <a:srgbClr val="CC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304288"/>
            <a:ext cx="45720" cy="694944"/>
          </a:xfrm>
          <a:prstGeom prst="rect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377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Groq API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2670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LLM Agent Brain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80960" y="2505456"/>
            <a:ext cx="1097280" cy="256032"/>
          </a:xfrm>
          <a:prstGeom prst="rect">
            <a:avLst/>
          </a:prstGeom>
          <a:solidFill>
            <a:srgbClr val="CC1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25054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Free Tier · Cloud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163824"/>
            <a:ext cx="4160520" cy="694944"/>
          </a:xfrm>
          <a:prstGeom prst="rect">
            <a:avLst/>
          </a:prstGeom>
          <a:solidFill>
            <a:srgbClr val="2ECC71">
              <a:alpha val="12000"/>
            </a:srgbClr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163824"/>
            <a:ext cx="45720" cy="694944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2369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pyttsx3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3529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Text → Speech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3364992"/>
            <a:ext cx="1097280" cy="256032"/>
          </a:xfrm>
          <a:prstGeom prst="rect">
            <a:avLst/>
          </a:prstGeom>
          <a:solidFill>
            <a:srgbClr val="2ECC71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3364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Offline · MIT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163824"/>
            <a:ext cx="4160520" cy="694944"/>
          </a:xfrm>
          <a:prstGeom prst="rect">
            <a:avLst/>
          </a:prstGeom>
          <a:solidFill>
            <a:srgbClr val="9B59B6">
              <a:alpha val="12000"/>
            </a:srgbClr>
          </a:solidFill>
          <a:ln w="10160">
            <a:solidFill>
              <a:srgbClr val="9B59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163824"/>
            <a:ext cx="45720" cy="694944"/>
          </a:xfrm>
          <a:prstGeom prst="rect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2369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Flask + Socket.IO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3529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Web Server + HUD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680960" y="3364992"/>
            <a:ext cx="1097280" cy="256032"/>
          </a:xfrm>
          <a:prstGeom prst="rect">
            <a:avLst/>
          </a:prstGeom>
          <a:solidFill>
            <a:srgbClr val="9B59B6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3364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Local · MIT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023360"/>
            <a:ext cx="4160520" cy="694944"/>
          </a:xfrm>
          <a:prstGeom prst="rect">
            <a:avLst/>
          </a:prstGeom>
          <a:solidFill>
            <a:srgbClr val="CC1A1A">
              <a:alpha val="12000"/>
            </a:srgbClr>
          </a:solidFill>
          <a:ln w="10160">
            <a:solidFill>
              <a:srgbClr val="CC1A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023360"/>
            <a:ext cx="45720" cy="694944"/>
          </a:xfrm>
          <a:prstGeom prst="rect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096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NumPy / SciPy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11480" y="4389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Kalman · A* · Math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0" y="4224528"/>
            <a:ext cx="1097280" cy="256032"/>
          </a:xfrm>
          <a:prstGeom prst="rect">
            <a:avLst/>
          </a:prstGeom>
          <a:solidFill>
            <a:srgbClr val="CC1A1A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0" y="4224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Local · BSD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4023360"/>
            <a:ext cx="4160520" cy="694944"/>
          </a:xfrm>
          <a:prstGeom prst="rect">
            <a:avLst/>
          </a:prstGeom>
          <a:solidFill>
            <a:srgbClr val="00C4E0">
              <a:alpha val="12000"/>
            </a:srgbClr>
          </a:solidFill>
          <a:ln w="10160">
            <a:solidFill>
              <a:srgbClr val="00C4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4023360"/>
            <a:ext cx="45720" cy="694944"/>
          </a:xfrm>
          <a:prstGeom prst="rect">
            <a:avLst/>
          </a:prstGeom>
          <a:solidFill>
            <a:srgbClr val="00C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4096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OpenCV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892040" y="4389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Camera Frame Capture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680960" y="4224528"/>
            <a:ext cx="1097280" cy="256032"/>
          </a:xfrm>
          <a:prstGeom prst="rect">
            <a:avLst/>
          </a:prstGeom>
          <a:solidFill>
            <a:srgbClr val="00C4E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80960" y="4224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Local · Apache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548640" cy="365760"/>
          </a:xfrm>
          <a:prstGeom prst="ellipse">
            <a:avLst/>
          </a:prstGeom>
          <a:solidFill>
            <a:srgbClr val="1A1A1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4754880"/>
            <a:ext cx="640080" cy="457200"/>
          </a:xfrm>
          <a:prstGeom prst="ellipse">
            <a:avLst/>
          </a:prstGeom>
          <a:solidFill>
            <a:srgbClr val="CC1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"/>
            <a:ext cx="411480" cy="41148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5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1A1A"/>
                </a:solidFill>
              </a:rPr>
              <a:t>HUD INTERFACE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Anime-Styled Web HUD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5303520" cy="3520440"/>
          </a:xfrm>
          <a:prstGeom prst="rect">
            <a:avLst/>
          </a:prstGeom>
          <a:solidFill>
            <a:srgbClr val="0D0D12"/>
          </a:solidFill>
          <a:ln w="15240">
            <a:solidFill>
              <a:srgbClr val="00C4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530352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5272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C4E0"/>
                </a:solidFill>
              </a:rPr>
              <a:t>視覚  HIKARI SHINRO AI  ·  LIVE FEED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5120640" cy="2468880"/>
          </a:xfrm>
          <a:prstGeom prst="rect">
            <a:avLst/>
          </a:prstGeom>
          <a:solidFill>
            <a:srgbClr val="1A2A3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920240"/>
            <a:ext cx="1280160" cy="164592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0C4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874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4E0"/>
                </a:solidFill>
              </a:rPr>
              <a:t>DOOR 1.8m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0" y="2286000"/>
            <a:ext cx="914400" cy="82296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F0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2311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A020"/>
                </a:solidFill>
              </a:rPr>
              <a:t>CHAIR 0.9m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28800" y="3657600"/>
            <a:ext cx="146304" cy="146304"/>
          </a:xfrm>
          <a:prstGeom prst="ellipse">
            <a:avLst/>
          </a:prstGeom>
          <a:solidFill>
            <a:srgbClr val="2ECC71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3474720"/>
            <a:ext cx="146304" cy="146304"/>
          </a:xfrm>
          <a:prstGeom prst="ellipse">
            <a:avLst/>
          </a:prstGeom>
          <a:solidFill>
            <a:srgbClr val="2ECC71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3291840"/>
            <a:ext cx="146304" cy="146304"/>
          </a:xfrm>
          <a:prstGeom prst="ellipse">
            <a:avLst/>
          </a:prstGeom>
          <a:solidFill>
            <a:srgbClr val="2ECC71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3108960"/>
            <a:ext cx="146304" cy="146304"/>
          </a:xfrm>
          <a:prstGeom prst="ellipse">
            <a:avLst/>
          </a:prstGeom>
          <a:solidFill>
            <a:srgbClr val="2ECC71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2926080"/>
            <a:ext cx="146304" cy="146304"/>
          </a:xfrm>
          <a:prstGeom prst="ellipse">
            <a:avLst/>
          </a:prstGeom>
          <a:solidFill>
            <a:srgbClr val="2ECC71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38587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CC71"/>
                </a:solidFill>
              </a:rPr>
              <a:t>A* PATH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5760" y="4526280"/>
            <a:ext cx="5303520" cy="228600"/>
          </a:xfrm>
          <a:prstGeom prst="rect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54456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AGENT: Door 1.8m ahead — move slightly left to avoid chair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52160" y="12801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9360" y="1325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Live YOLO bounding boxes with distance labels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52160" y="18288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🌊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1874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Depth heat-map overlay (warm = close)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52160" y="2377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936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A* safe path visualized on camera feed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52160" y="29260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09360" y="2971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Kalman tracking trails for moving objects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52160" y="3474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🗣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09360" y="3520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Agent's spoken guidance displayed as subtitle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52160" y="40233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09360" y="4069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Responsive — works on any browser/device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411480" cy="41148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5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INNOVATION &amp;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Hikari Shinro AI Wins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60520" cy="1078992"/>
          </a:xfrm>
          <a:prstGeom prst="rect">
            <a:avLst/>
          </a:prstGeom>
          <a:solidFill>
            <a:srgbClr val="CC1A1A">
              <a:alpha val="12000"/>
            </a:srgbClr>
          </a:solidFill>
          <a:ln w="10160">
            <a:solidFill>
              <a:srgbClr val="CC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45720" cy="1078992"/>
          </a:xfrm>
          <a:prstGeom prst="rect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554480"/>
            <a:ext cx="384048" cy="384048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3258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Zero-Shot Detection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63677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YOLO-World detects ANY object the user asks for without retraining — directly satisfies PS1's hardest requirement. Most teams will skip this.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160520" cy="1078992"/>
          </a:xfrm>
          <a:prstGeom prst="rect">
            <a:avLst/>
          </a:prstGeom>
          <a:solidFill>
            <a:srgbClr val="F0A020">
              <a:alpha val="12000"/>
            </a:srgbClr>
          </a:solidFill>
          <a:ln w="10160">
            <a:solidFill>
              <a:srgbClr val="F0A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234440"/>
            <a:ext cx="45720" cy="1078992"/>
          </a:xfrm>
          <a:prstGeom prst="rect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554480"/>
            <a:ext cx="384048" cy="384048"/>
          </a:xfrm>
          <a:prstGeom prst="ellipse">
            <a:avLst/>
          </a:prstGeom>
          <a:solidFill>
            <a:srgbClr val="F0A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13258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Explicit Quant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163677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4 visible math algorithms (Kalman, A*, Euclidean, Confidence) lock in the Quant × AI theme. Judges see the math working live on the HUD.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468880"/>
            <a:ext cx="4160520" cy="1078992"/>
          </a:xfrm>
          <a:prstGeom prst="rect">
            <a:avLst/>
          </a:prstGeom>
          <a:solidFill>
            <a:srgbClr val="00C4E0">
              <a:alpha val="12000"/>
            </a:srgbClr>
          </a:solidFill>
          <a:ln w="10160">
            <a:solidFill>
              <a:srgbClr val="00C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468880"/>
            <a:ext cx="45720" cy="1078992"/>
          </a:xfrm>
          <a:prstGeom prst="rect">
            <a:avLst/>
          </a:prstGeom>
          <a:solidFill>
            <a:srgbClr val="00C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788920"/>
            <a:ext cx="384048" cy="384048"/>
          </a:xfrm>
          <a:prstGeom prst="ellipse">
            <a:avLst/>
          </a:prstGeom>
          <a:solidFill>
            <a:srgbClr val="00C4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2560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Truly Agentic Loop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287121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LLM replans every frame without re-prompting. This is genuine agentic behaviour — not just an LLM called once and forgotten.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468880"/>
            <a:ext cx="4160520" cy="1078992"/>
          </a:xfrm>
          <a:prstGeom prst="rect">
            <a:avLst/>
          </a:prstGeom>
          <a:solidFill>
            <a:srgbClr val="2ECC71">
              <a:alpha val="12000"/>
            </a:srgbClr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468880"/>
            <a:ext cx="45720" cy="1078992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4608" y="2788920"/>
            <a:ext cx="384048" cy="38404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49240" y="2560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Dual Output System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87121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Audio guidance for the user + visual HUD for caregivers simultaneously. Two distinct outputs, one integrated pipeline.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703320"/>
            <a:ext cx="4160520" cy="1078992"/>
          </a:xfrm>
          <a:prstGeom prst="rect">
            <a:avLst/>
          </a:prstGeom>
          <a:solidFill>
            <a:srgbClr val="9B59B6">
              <a:alpha val="12000"/>
            </a:srgbClr>
          </a:solidFill>
          <a:ln w="10160">
            <a:solidFill>
              <a:srgbClr val="9B59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703320"/>
            <a:ext cx="45720" cy="1078992"/>
          </a:xfrm>
          <a:prstGeom prst="rect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4023360"/>
            <a:ext cx="384048" cy="38404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" y="3794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100% Free Stack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" y="410565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₹0 cost. Entire pipeline runs offline (except Groq). Works even if venue internet drops — resilient and practical.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703320"/>
            <a:ext cx="4160520" cy="1078992"/>
          </a:xfrm>
          <a:prstGeom prst="rect">
            <a:avLst/>
          </a:prstGeom>
          <a:solidFill>
            <a:srgbClr val="CC1A1A">
              <a:alpha val="12000"/>
            </a:srgbClr>
          </a:solidFill>
          <a:ln w="10160">
            <a:solidFill>
              <a:srgbClr val="CC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703320"/>
            <a:ext cx="45720" cy="1078992"/>
          </a:xfrm>
          <a:prstGeom prst="rect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64608" y="4023360"/>
            <a:ext cx="384048" cy="384048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49240" y="3794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Strong Social Impact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410565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Accessibility + AI + Quant = powerful demo story. Real-world applicability for 285 million visually impaired people globally.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548640" cy="365760"/>
          </a:xfrm>
          <a:prstGeom prst="ellipse">
            <a:avLst/>
          </a:prstGeom>
          <a:solidFill>
            <a:srgbClr val="1A1A1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4754880"/>
            <a:ext cx="640080" cy="457200"/>
          </a:xfrm>
          <a:prstGeom prst="ellipse">
            <a:avLst/>
          </a:prstGeom>
          <a:solidFill>
            <a:srgbClr val="CC1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"/>
            <a:ext cx="411480" cy="41148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5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1A1A"/>
                </a:solidFill>
              </a:rPr>
              <a:t>MARKET RESEARCH &amp; IMPACT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at Scale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1920240" cy="2194560"/>
          </a:xfrm>
          <a:prstGeom prst="rect">
            <a:avLst/>
          </a:prstGeom>
          <a:solidFill>
            <a:srgbClr val="CC1A1A">
              <a:alpha val="10000"/>
            </a:srgbClr>
          </a:solidFill>
          <a:ln w="12700">
            <a:solidFill>
              <a:srgbClr val="CC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25880"/>
            <a:ext cx="1920240" cy="45720"/>
          </a:xfrm>
          <a:prstGeom prst="rect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63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C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285M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Visually Impaired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People Globally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A92"/>
                </a:solidFill>
              </a:rPr>
              <a:t>WHO — 2023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325880"/>
            <a:ext cx="1920240" cy="2194560"/>
          </a:xfrm>
          <a:prstGeom prst="rect">
            <a:avLst/>
          </a:prstGeom>
          <a:solidFill>
            <a:srgbClr val="1A1A1A">
              <a:alpha val="10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325880"/>
            <a:ext cx="1920240" cy="457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463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43M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2468880" y="2286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Completely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Blind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A92"/>
                </a:solidFill>
              </a:rPr>
              <a:t>WHO — 2023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325880"/>
            <a:ext cx="1920240" cy="2194560"/>
          </a:xfrm>
          <a:prstGeom prst="rect">
            <a:avLst/>
          </a:prstGeom>
          <a:solidFill>
            <a:srgbClr val="CC1A1A">
              <a:alpha val="10000"/>
            </a:srgbClr>
          </a:solidFill>
          <a:ln w="12700">
            <a:solidFill>
              <a:srgbClr val="CC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325880"/>
            <a:ext cx="1920240" cy="45720"/>
          </a:xfrm>
          <a:prstGeom prst="rect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463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C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572000" y="2286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Live in Low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Middle Income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A92"/>
                </a:solidFill>
              </a:rPr>
              <a:t>Countries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75120" y="1325880"/>
            <a:ext cx="1920240" cy="2194560"/>
          </a:xfrm>
          <a:prstGeom prst="rect">
            <a:avLst/>
          </a:prstGeom>
          <a:solidFill>
            <a:srgbClr val="1A1A1A">
              <a:alpha val="10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0" y="1325880"/>
            <a:ext cx="1920240" cy="457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463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675120" y="2286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Cost of 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Entire Stack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A92"/>
                </a:solidFill>
              </a:rPr>
              <a:t>All Free Tools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8412480" cy="11430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794760"/>
            <a:ext cx="274320" cy="27432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776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Practical Feasibility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40507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Runs on any laptop with webcam — zero hardware cost. Deployable immediately.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0" y="3794760"/>
            <a:ext cx="274320" cy="27432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7872" y="3776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Scalability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47872" y="40507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Add new environments (hospital, school) without retraining. Text labels = instant adaptation.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0" y="3794760"/>
            <a:ext cx="274320" cy="274320"/>
          </a:xfrm>
          <a:prstGeom prst="ellipse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3776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Social Impact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91072" y="40507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Independence + safety for 285M+ people. Strong story for accessibility-focused judges.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548640" cy="365760"/>
          </a:xfrm>
          <a:prstGeom prst="ellipse">
            <a:avLst/>
          </a:prstGeom>
          <a:solidFill>
            <a:srgbClr val="1A1A1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4754880"/>
            <a:ext cx="640080" cy="457200"/>
          </a:xfrm>
          <a:prstGeom prst="ellipse">
            <a:avLst/>
          </a:prstGeom>
          <a:solidFill>
            <a:srgbClr val="CC1A1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-274320"/>
            <a:ext cx="1463040" cy="1463040"/>
          </a:xfrm>
          <a:prstGeom prst="ellipse">
            <a:avLst/>
          </a:prstGeom>
          <a:solidFill>
            <a:srgbClr val="CC1A1A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 Team Members Page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9A92"/>
                </a:solidFill>
              </a:rPr>
              <a:t>Elaborate on your team — names, roles, and skills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645920"/>
            <a:ext cx="1371600" cy="1371600"/>
          </a:xfrm>
          <a:prstGeom prst="ellipse">
            <a:avLst/>
          </a:prstGeom>
          <a:solidFill>
            <a:srgbClr val="CC1A1A">
              <a:alpha val="90000"/>
            </a:srgbClr>
          </a:solidFill>
          <a:ln w="25400">
            <a:solidFill>
              <a:srgbClr val="CC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Member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93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9A92"/>
                </a:solidFill>
              </a:rPr>
              <a:t>Role / Position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767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A92"/>
                </a:solidFill>
              </a:rPr>
              <a:t>College 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71800" y="1645920"/>
            <a:ext cx="1371600" cy="1371600"/>
          </a:xfrm>
          <a:prstGeom prst="ellipse">
            <a:avLst/>
          </a:prstGeom>
          <a:solidFill>
            <a:srgbClr val="1A1A1A">
              <a:alpha val="90000"/>
            </a:srgbClr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6459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60604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Member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3493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9A92"/>
                </a:solidFill>
              </a:rPr>
              <a:t>Role / Position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3767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A92"/>
                </a:solidFill>
              </a:rPr>
              <a:t>College Name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20640" y="1645920"/>
            <a:ext cx="1371600" cy="1371600"/>
          </a:xfrm>
          <a:prstGeom prst="ellipse">
            <a:avLst/>
          </a:prstGeom>
          <a:solidFill>
            <a:srgbClr val="CC1A1A">
              <a:alpha val="90000"/>
            </a:srgbClr>
          </a:solidFill>
          <a:ln w="25400">
            <a:solidFill>
              <a:srgbClr val="CC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6459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75488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Member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493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9A92"/>
                </a:solidFill>
              </a:rPr>
              <a:t>Role / Position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3767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A92"/>
                </a:solidFill>
              </a:rPr>
              <a:t>College Name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69480" y="1645920"/>
            <a:ext cx="1371600" cy="1371600"/>
          </a:xfrm>
          <a:prstGeom prst="ellipse">
            <a:avLst/>
          </a:prstGeom>
          <a:solidFill>
            <a:srgbClr val="1A1A1A">
              <a:alpha val="90000"/>
            </a:srgbClr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16459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90372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Member 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3493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9A92"/>
                </a:solidFill>
              </a:rPr>
              <a:t>Role / Position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3767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A92"/>
                </a:solidFill>
              </a:rPr>
              <a:t>College Name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4572000" cy="4572000"/>
          </a:xfrm>
          <a:prstGeom prst="ellipse">
            <a:avLst/>
          </a:prstGeom>
          <a:solidFill>
            <a:srgbClr val="CC1A1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CC1A1A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spc="300" kern="0" dirty="0">
                <a:solidFill>
                  <a:srgbClr val="CC1A1A"/>
                </a:solidFill>
              </a:rPr>
              <a:t>光の進路  ·  Hikari Shinro 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Agentic AI Navigation for the Visually Impaired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0" y="2926080"/>
            <a:ext cx="4572000" cy="0"/>
          </a:xfrm>
          <a:prstGeom prst="line">
            <a:avLst/>
          </a:prstGeom>
          <a:noFill/>
          <a:ln w="12700">
            <a:solidFill>
              <a:srgbClr val="CC1A1A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Write a closing statement or call to action here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C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CodeRonin Hackathon  ·  Ahouba 3.0  ·  IIIT Manipur  ·  21–22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Hikari Shinro AI</dc:title>
  <dc:subject>PptxGenJS Presentation</dc:subject>
  <dc:creator>Team Hikari</dc:creator>
  <cp:lastModifiedBy>Team Hikari</cp:lastModifiedBy>
  <cp:revision>1</cp:revision>
  <dcterms:created xsi:type="dcterms:W3CDTF">2026-03-21T12:23:30Z</dcterms:created>
  <dcterms:modified xsi:type="dcterms:W3CDTF">2026-03-21T12:23:30Z</dcterms:modified>
</cp:coreProperties>
</file>