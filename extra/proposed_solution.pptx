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-1097280"/>
            <a:ext cx="4754880" cy="4754880"/>
          </a:xfrm>
          <a:prstGeom prst="ellipse">
            <a:avLst/>
          </a:prstGeom>
          <a:solidFill>
            <a:srgbClr val="8B0000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-640080"/>
            <a:ext cx="3840480" cy="3840480"/>
          </a:xfrm>
          <a:prstGeom prst="ellipse">
            <a:avLst/>
          </a:prstGeom>
          <a:solidFill>
            <a:srgbClr val="AA0000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91440"/>
            <a:ext cx="2743200" cy="2743200"/>
          </a:xfrm>
          <a:prstGeom prst="ellipse">
            <a:avLst/>
          </a:prstGeom>
          <a:solidFill>
            <a:srgbClr val="CC1515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0"/>
            <a:ext cx="64008" cy="5143500"/>
          </a:xfrm>
          <a:prstGeom prst="rect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49056" y="0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49056" y="749808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49056" y="1499616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9056" y="2249424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49056" y="2999232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49056" y="3749040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49056" y="4498848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05088" y="0"/>
            <a:ext cx="64008" cy="5143500"/>
          </a:xfrm>
          <a:prstGeom prst="rect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50224" y="0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50224" y="749808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0224" y="1499616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50224" y="2249424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50224" y="2999232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50224" y="3749040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4498848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06256" y="0"/>
            <a:ext cx="64008" cy="5143500"/>
          </a:xfrm>
          <a:prstGeom prst="rect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0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51392" y="749808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51392" y="1499616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1392" y="2249424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51392" y="2999232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51392" y="3749040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1392" y="4498848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07424" y="0"/>
            <a:ext cx="64008" cy="5143500"/>
          </a:xfrm>
          <a:prstGeom prst="rect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0" y="0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560" y="749808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52560" y="1499616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52560" y="2249424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2999232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3749040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52560" y="4498848"/>
            <a:ext cx="173736" cy="64008"/>
          </a:xfrm>
          <a:prstGeom prst="ellipse">
            <a:avLst/>
          </a:prstGeom>
          <a:solidFill>
            <a:srgbClr val="1A3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82880" y="-137160"/>
            <a:ext cx="1005840" cy="658368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-64008"/>
            <a:ext cx="868680" cy="594360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-137160"/>
            <a:ext cx="804672" cy="530352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" y="210312"/>
            <a:ext cx="822960" cy="566928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173736"/>
            <a:ext cx="749808" cy="502920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0120" y="64008"/>
            <a:ext cx="685800" cy="457200"/>
          </a:xfrm>
          <a:prstGeom prst="ellipse">
            <a:avLst/>
          </a:prstGeom>
          <a:solidFill>
            <a:srgbClr val="1C1C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-164592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52144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91056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29968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68880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07792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46704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85616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24528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63440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02352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41264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80176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19088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0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96912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35824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74736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13648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52560" y="4718304"/>
            <a:ext cx="502920" cy="228600"/>
          </a:xfrm>
          <a:prstGeom prst="ellipse">
            <a:avLst/>
          </a:prstGeom>
          <a:solidFill>
            <a:srgbClr val="99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0" y="483717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CodeRonin  ·  Ahouba 3.0  ·  IIIT Manipur  ·  PS-01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47472" y="594360"/>
            <a:ext cx="45720" cy="4005072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6012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C1515"/>
                </a:solidFill>
              </a:rPr>
              <a:t>PROPOSED SOLUTION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02920" y="65836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Hikari Shinro AI</a:t>
            </a:r>
            <a:endParaRPr lang="en-US" sz="4200" dirty="0"/>
          </a:p>
        </p:txBody>
      </p:sp>
      <p:sp>
        <p:nvSpPr>
          <p:cNvPr id="72" name="Text 70"/>
          <p:cNvSpPr/>
          <p:nvPr/>
        </p:nvSpPr>
        <p:spPr>
          <a:xfrm>
            <a:off x="50292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CC1515"/>
                </a:solidFill>
              </a:rPr>
              <a:t>光の進路  ·  Path of Light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02920" y="17007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An end-to-end agentic AI navigation assistant for the visually impaired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02920" y="2029968"/>
            <a:ext cx="5303520" cy="0"/>
          </a:xfrm>
          <a:prstGeom prst="line">
            <a:avLst/>
          </a:prstGeom>
          <a:noFill/>
          <a:ln w="7620">
            <a:solidFill>
              <a:srgbClr val="CC1515">
                <a:alpha val="4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2920" y="2148840"/>
            <a:ext cx="2057400" cy="2487168"/>
          </a:xfrm>
          <a:prstGeom prst="rect">
            <a:avLst/>
          </a:prstGeom>
          <a:solidFill>
            <a:srgbClr val="00C4E0">
              <a:alpha val="9000"/>
            </a:srgbClr>
          </a:solidFill>
          <a:ln w="15240">
            <a:solidFill>
              <a:srgbClr val="00C4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2920" y="2148840"/>
            <a:ext cx="2057400" cy="45720"/>
          </a:xfrm>
          <a:prstGeom prst="rect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2920" y="2148840"/>
            <a:ext cx="146304" cy="0"/>
          </a:xfrm>
          <a:prstGeom prst="line">
            <a:avLst/>
          </a:prstGeom>
          <a:noFill/>
          <a:ln w="25400">
            <a:solidFill>
              <a:srgbClr val="00C4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920" y="2148840"/>
            <a:ext cx="0" cy="146304"/>
          </a:xfrm>
          <a:prstGeom prst="line">
            <a:avLst/>
          </a:prstGeom>
          <a:noFill/>
          <a:ln w="25400">
            <a:solidFill>
              <a:srgbClr val="00C4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560320" y="2148840"/>
            <a:ext cx="-146304" cy="0"/>
          </a:xfrm>
          <a:prstGeom prst="line">
            <a:avLst/>
          </a:prstGeom>
          <a:noFill/>
          <a:ln w="25400">
            <a:solidFill>
              <a:srgbClr val="00C4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60320" y="2148840"/>
            <a:ext cx="0" cy="146304"/>
          </a:xfrm>
          <a:prstGeom prst="line">
            <a:avLst/>
          </a:prstGeom>
          <a:noFill/>
          <a:ln w="25400">
            <a:solidFill>
              <a:srgbClr val="00C4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" y="4636008"/>
            <a:ext cx="146304" cy="0"/>
          </a:xfrm>
          <a:prstGeom prst="line">
            <a:avLst/>
          </a:prstGeom>
          <a:noFill/>
          <a:ln w="25400">
            <a:solidFill>
              <a:srgbClr val="00C4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2920" y="4636008"/>
            <a:ext cx="0" cy="-146304"/>
          </a:xfrm>
          <a:prstGeom prst="line">
            <a:avLst/>
          </a:prstGeom>
          <a:noFill/>
          <a:ln w="25400">
            <a:solidFill>
              <a:srgbClr val="00C4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60320" y="4636008"/>
            <a:ext cx="-146304" cy="0"/>
          </a:xfrm>
          <a:prstGeom prst="line">
            <a:avLst/>
          </a:prstGeom>
          <a:noFill/>
          <a:ln w="25400">
            <a:solidFill>
              <a:srgbClr val="00C4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0" y="4636008"/>
            <a:ext cx="0" cy="-146304"/>
          </a:xfrm>
          <a:prstGeom prst="line">
            <a:avLst/>
          </a:prstGeom>
          <a:noFill/>
          <a:ln w="25400">
            <a:solidFill>
              <a:srgbClr val="00C4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202436" y="2258568"/>
            <a:ext cx="658368" cy="658368"/>
          </a:xfrm>
          <a:prstGeom prst="ellipse">
            <a:avLst/>
          </a:prstGeom>
          <a:solidFill>
            <a:srgbClr val="00C4E0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202436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87" name="Text 85"/>
          <p:cNvSpPr/>
          <p:nvPr/>
        </p:nvSpPr>
        <p:spPr>
          <a:xfrm>
            <a:off x="576072" y="300837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SEES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576072" y="331927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4E0"/>
                </a:solidFill>
              </a:rPr>
              <a:t>Open-Vocab Detection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77240" y="3575304"/>
            <a:ext cx="1508760" cy="0"/>
          </a:xfrm>
          <a:prstGeom prst="line">
            <a:avLst/>
          </a:prstGeom>
          <a:noFill/>
          <a:ln w="6350">
            <a:solidFill>
              <a:srgbClr val="00C4E0">
                <a:alpha val="5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2648" y="3648456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YOLO-World detects ANY object by text label — zero retraining. MiDaS estimates real-world depth from a single camera frame.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743200" y="2148840"/>
            <a:ext cx="2057400" cy="2487168"/>
          </a:xfrm>
          <a:prstGeom prst="rect">
            <a:avLst/>
          </a:prstGeom>
          <a:solidFill>
            <a:srgbClr val="CC1515">
              <a:alpha val="9000"/>
            </a:srgbClr>
          </a:solidFill>
          <a:ln w="15240">
            <a:solidFill>
              <a:srgbClr val="CC151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0" y="2148840"/>
            <a:ext cx="2057400" cy="45720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0" y="2148840"/>
            <a:ext cx="146304" cy="0"/>
          </a:xfrm>
          <a:prstGeom prst="line">
            <a:avLst/>
          </a:prstGeom>
          <a:noFill/>
          <a:ln w="25400">
            <a:solidFill>
              <a:srgbClr val="CC151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0" y="2148840"/>
            <a:ext cx="0" cy="146304"/>
          </a:xfrm>
          <a:prstGeom prst="line">
            <a:avLst/>
          </a:prstGeom>
          <a:noFill/>
          <a:ln w="25400">
            <a:solidFill>
              <a:srgbClr val="CC151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800600" y="2148840"/>
            <a:ext cx="-146304" cy="0"/>
          </a:xfrm>
          <a:prstGeom prst="line">
            <a:avLst/>
          </a:prstGeom>
          <a:noFill/>
          <a:ln w="25400">
            <a:solidFill>
              <a:srgbClr val="CC151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800600" y="2148840"/>
            <a:ext cx="0" cy="146304"/>
          </a:xfrm>
          <a:prstGeom prst="line">
            <a:avLst/>
          </a:prstGeom>
          <a:noFill/>
          <a:ln w="25400">
            <a:solidFill>
              <a:srgbClr val="CC151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43200" y="4636008"/>
            <a:ext cx="146304" cy="0"/>
          </a:xfrm>
          <a:prstGeom prst="line">
            <a:avLst/>
          </a:prstGeom>
          <a:noFill/>
          <a:ln w="25400">
            <a:solidFill>
              <a:srgbClr val="CC151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43200" y="4636008"/>
            <a:ext cx="0" cy="-146304"/>
          </a:xfrm>
          <a:prstGeom prst="line">
            <a:avLst/>
          </a:prstGeom>
          <a:noFill/>
          <a:ln w="25400">
            <a:solidFill>
              <a:srgbClr val="CC151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800600" y="4636008"/>
            <a:ext cx="-146304" cy="0"/>
          </a:xfrm>
          <a:prstGeom prst="line">
            <a:avLst/>
          </a:prstGeom>
          <a:noFill/>
          <a:ln w="25400">
            <a:solidFill>
              <a:srgbClr val="CC151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800600" y="4636008"/>
            <a:ext cx="0" cy="-146304"/>
          </a:xfrm>
          <a:prstGeom prst="line">
            <a:avLst/>
          </a:prstGeom>
          <a:noFill/>
          <a:ln w="25400">
            <a:solidFill>
              <a:srgbClr val="CC151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442716" y="2258568"/>
            <a:ext cx="658368" cy="658368"/>
          </a:xfrm>
          <a:prstGeom prst="ellipse">
            <a:avLst/>
          </a:prstGeom>
          <a:solidFill>
            <a:srgbClr val="CC151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442716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03" name="Text 101"/>
          <p:cNvSpPr/>
          <p:nvPr/>
        </p:nvSpPr>
        <p:spPr>
          <a:xfrm>
            <a:off x="2816352" y="300837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REASONS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816352" y="331927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1515"/>
                </a:solidFill>
              </a:rPr>
              <a:t>Agentic LLM Brain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3017520" y="3575304"/>
            <a:ext cx="1508760" cy="0"/>
          </a:xfrm>
          <a:prstGeom prst="line">
            <a:avLst/>
          </a:prstGeom>
          <a:noFill/>
          <a:ln w="6350">
            <a:solidFill>
              <a:srgbClr val="CC1515">
                <a:alpha val="5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852928" y="3648456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LLaMA 3 via Groq decomposes spoken goals into subtasks and replans every frame — genuinely agentic, no re-prompting.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983480" y="2148840"/>
            <a:ext cx="2057400" cy="2487168"/>
          </a:xfrm>
          <a:prstGeom prst="rect">
            <a:avLst/>
          </a:prstGeom>
          <a:solidFill>
            <a:srgbClr val="2ECC71">
              <a:alpha val="9000"/>
            </a:srgbClr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83480" y="2148840"/>
            <a:ext cx="2057400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83480" y="2148840"/>
            <a:ext cx="146304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983480" y="2148840"/>
            <a:ext cx="0" cy="146304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40880" y="2148840"/>
            <a:ext cx="-146304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040880" y="2148840"/>
            <a:ext cx="0" cy="146304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983480" y="4636008"/>
            <a:ext cx="146304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983480" y="4636008"/>
            <a:ext cx="0" cy="-146304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040880" y="4636008"/>
            <a:ext cx="-146304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040880" y="4636008"/>
            <a:ext cx="0" cy="-146304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682996" y="2258568"/>
            <a:ext cx="658368" cy="658368"/>
          </a:xfrm>
          <a:prstGeom prst="ellipse">
            <a:avLst/>
          </a:prstGeom>
          <a:solidFill>
            <a:srgbClr val="2ECC71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82996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</a:t>
            </a:r>
            <a:endParaRPr lang="en-US" sz="2200" dirty="0"/>
          </a:p>
        </p:txBody>
      </p:sp>
      <p:sp>
        <p:nvSpPr>
          <p:cNvPr id="119" name="Text 117"/>
          <p:cNvSpPr/>
          <p:nvPr/>
        </p:nvSpPr>
        <p:spPr>
          <a:xfrm>
            <a:off x="5056632" y="300837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GUIDES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5056632" y="331927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C71"/>
                </a:solidFill>
              </a:rPr>
              <a:t>Dual Output System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5257800" y="3575304"/>
            <a:ext cx="1508760" cy="0"/>
          </a:xfrm>
          <a:prstGeom prst="line">
            <a:avLst/>
          </a:prstGeom>
          <a:noFill/>
          <a:ln w="6350">
            <a:solidFill>
              <a:srgbClr val="2ECC71">
                <a:alpha val="5000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093208" y="3648456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pyttsx3 speaks guidance offline. Anime-styled Flask HUD streams live detection + A* path for caregivers in real time.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7178040" y="2148840"/>
            <a:ext cx="1600200" cy="2487168"/>
          </a:xfrm>
          <a:prstGeom prst="rect">
            <a:avLst/>
          </a:prstGeom>
          <a:solidFill>
            <a:srgbClr val="F0A020">
              <a:alpha val="9000"/>
            </a:srgbClr>
          </a:solidFill>
          <a:ln w="15240">
            <a:solidFill>
              <a:srgbClr val="F0A02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178040" y="2148840"/>
            <a:ext cx="1600200" cy="45720"/>
          </a:xfrm>
          <a:prstGeom prst="rect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178040" y="22585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126" name="Text 124"/>
          <p:cNvSpPr/>
          <p:nvPr/>
        </p:nvSpPr>
        <p:spPr>
          <a:xfrm>
            <a:off x="7178040" y="2834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7269480" y="3346704"/>
            <a:ext cx="1417320" cy="0"/>
          </a:xfrm>
          <a:prstGeom prst="line">
            <a:avLst/>
          </a:prstGeom>
          <a:noFill/>
          <a:ln w="6350">
            <a:solidFill>
              <a:srgbClr val="F0A020">
                <a:alpha val="5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223760" y="3502152"/>
            <a:ext cx="146304" cy="146304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424928" y="34381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Kalman Filter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7223760" y="3813048"/>
            <a:ext cx="146304" cy="146304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424928" y="37490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A* Pathfinding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7223760" y="4123944"/>
            <a:ext cx="146304" cy="146304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424928" y="405993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Euclidean Dist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7223760" y="4434840"/>
            <a:ext cx="146304" cy="146304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424928" y="4370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Conf. Threshold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502920" y="4636008"/>
            <a:ext cx="1554480" cy="91440"/>
          </a:xfrm>
          <a:prstGeom prst="rect">
            <a:avLst/>
          </a:prstGeom>
          <a:solidFill>
            <a:srgbClr val="CC1515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02920" y="4315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1800" dirty="0"/>
          </a:p>
        </p:txBody>
      </p:sp>
      <p:sp>
        <p:nvSpPr>
          <p:cNvPr id="138" name="Text 136"/>
          <p:cNvSpPr/>
          <p:nvPr/>
        </p:nvSpPr>
        <p:spPr>
          <a:xfrm>
            <a:off x="502920" y="4608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Total Cost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2185416" y="4636008"/>
            <a:ext cx="1554480" cy="91440"/>
          </a:xfrm>
          <a:prstGeom prst="rect">
            <a:avLst/>
          </a:prstGeom>
          <a:solidFill>
            <a:srgbClr val="CC1515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185416" y="4315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141" name="Text 139"/>
          <p:cNvSpPr/>
          <p:nvPr/>
        </p:nvSpPr>
        <p:spPr>
          <a:xfrm>
            <a:off x="2185416" y="4608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Pipeline Layers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3867912" y="4636008"/>
            <a:ext cx="1554480" cy="91440"/>
          </a:xfrm>
          <a:prstGeom prst="rect">
            <a:avLst/>
          </a:prstGeom>
          <a:solidFill>
            <a:srgbClr val="CC1515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867912" y="4315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144" name="Text 142"/>
          <p:cNvSpPr/>
          <p:nvPr/>
        </p:nvSpPr>
        <p:spPr>
          <a:xfrm>
            <a:off x="3867912" y="4608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Offline Capable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550408" y="4636008"/>
            <a:ext cx="1554480" cy="91440"/>
          </a:xfrm>
          <a:prstGeom prst="rect">
            <a:avLst/>
          </a:prstGeom>
          <a:solidFill>
            <a:srgbClr val="CC1515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550408" y="4315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147" name="Text 145"/>
          <p:cNvSpPr/>
          <p:nvPr/>
        </p:nvSpPr>
        <p:spPr>
          <a:xfrm>
            <a:off x="5550408" y="4608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Retraining Needed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2026-03-21T16:54:01Z</dcterms:created>
  <dcterms:modified xsi:type="dcterms:W3CDTF">2026-03-21T16:54:01Z</dcterms:modified>
</cp:coreProperties>
</file>